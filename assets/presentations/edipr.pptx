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59" r:id="rId3"/>
    <p:sldId id="258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2" r:id="rId14"/>
    <p:sldId id="281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85"/>
    <p:restoredTop sz="94726"/>
  </p:normalViewPr>
  <p:slideViewPr>
    <p:cSldViewPr snapToGrid="0">
      <p:cViewPr varScale="1">
        <p:scale>
          <a:sx n="120" d="100"/>
          <a:sy n="120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12498-3F78-3B45-A6BA-78DB3C0CB060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F9B0F-D4AF-8B42-81C2-D295596EF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01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841F0-9F17-09A8-6CFF-0558F4093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24215-9F0E-0C34-06A5-DD8D45122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AA1EE-37A1-97FF-6F68-4D0663D1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9145-D1A1-4149-A22E-0D8B9766AB75}" type="datetime1">
              <a:rPr lang="en-GB" smtClean="0"/>
              <a:t>25/10/2026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A28D-A092-4FE6-1CDC-A01268CD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A5FAA-B69B-B235-BB12-26B94BDB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91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81409-4456-B8FD-1FDE-0B5ED876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9CB08-314B-0056-1D0D-9C3067A07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6A310-4734-902A-685B-9C29F8AC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E31C4-239C-5940-BFC5-6FC2B0048760}" type="datetime1">
              <a:rPr lang="en-GB" smtClean="0"/>
              <a:t>25/10/2026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89470-553E-8AA1-89DD-56EC5225D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F9BA4-E122-0647-C25A-955F6D74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75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57E0A-E87D-3286-0331-EE5761868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62CB4-946D-F555-AEAF-CD668569E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5B514-2E65-BE3E-63A5-C140AD165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35EF2-9C88-584A-ABE4-DD03F527E4AF}" type="datetime1">
              <a:rPr lang="en-GB" smtClean="0"/>
              <a:t>25/10/2026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B558F-5E1C-3643-6FBE-53D2B5BCB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98D65-AA9E-9751-9021-5A96F0B80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7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34808-3A71-3CB7-0B54-92BADF11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212BA-7703-95D3-8B01-B796A3E09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FE43E-AB2A-741F-BAA9-D195CEF33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DC241-82F9-623D-13CD-D340C8D7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2D9A-9F2B-FC43-B5C4-DFE6F2E670A0}" type="datetime1">
              <a:rPr lang="en-GB" smtClean="0"/>
              <a:t>25/10/2026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AEC4-1449-CD9F-147C-EAFB652F4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8D682-85FB-F3A1-2A44-49B2EE429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33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BE6A-2F4F-9F32-1EAF-F3EABC027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E50C5-F5CD-BD84-F901-676999D56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FC123-AC79-C74D-776F-7CCF36C78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650DC-704C-EC5F-B058-AC5DA3B32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3F61DB-0EC4-9E44-2DC7-BF398E77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AEDCA9-79CD-2192-8B35-045388E93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42833-D52E-8443-BBCE-D99CBC6DEA15}" type="datetime1">
              <a:rPr lang="en-GB" smtClean="0"/>
              <a:t>25/10/2026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016DB3-B204-A59F-E3F1-B6843584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F07A0-040B-D8D4-3DD1-3CEEDAB3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6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9326-B6A7-F051-8CEE-AFF949F8E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977B56-D270-25FE-3AD0-C0766E899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DACBD-C97C-FC40-AD8B-D2BB6594FAEE}" type="datetime1">
              <a:rPr lang="en-GB" smtClean="0"/>
              <a:t>25/10/2026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84CB70-B4AD-05F8-1B38-2F1BD052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E0F8F-DC8A-11AD-615D-823BB6C7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2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1FD6B-CF41-2C4E-B061-27914268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829-49EE-6B47-9A8F-68EEC0DD5635}" type="datetime1">
              <a:rPr lang="en-GB" smtClean="0"/>
              <a:t>25/10/2026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BB8EB-DDC9-A89F-8102-F91BA780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3DF5F-56E6-39FC-3804-CF567A9B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2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2C4CF-F744-7D02-4508-BA0045FD3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1D4D-A4A0-9E1B-F9B3-75301DF76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CF909-2150-BA7C-1460-0D52F62D4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D696E-99C9-5FC5-746C-932F126D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B565-A07D-324B-9815-2300D57D6014}" type="datetime1">
              <a:rPr lang="en-GB" smtClean="0"/>
              <a:t>25/10/2026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3FBCD-66EB-BF02-4788-1E9157FD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4F696-7FAE-3E05-816C-53CF6282B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A2A0-EDBD-0370-77D2-DCDDB779A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DBA078-0F39-F449-4077-A270513F6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27370-25EE-F270-7BF1-6352898D9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11666-1144-CAB2-5485-C9807FDDC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241E-B364-3043-AEA3-34F6D6BF53E5}" type="datetime1">
              <a:rPr lang="en-GB" smtClean="0"/>
              <a:t>25/10/2026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E48CF-AC1D-0433-DF51-75FF30FE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3F8AD-8EF4-CF78-1C34-C1856335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50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1297-6831-1CC7-866C-1F58D707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A6F85-B061-B16D-4B79-41F0D0218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533F4-DB62-57C2-B990-74088514E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62C25-3BA8-AD43-AC6D-B7941BB89693}" type="datetime1">
              <a:rPr lang="en-GB" smtClean="0"/>
              <a:t>25/10/2026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ADCE6-7194-5A87-4F86-A90E3FD2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B75DE-9CAD-B1B0-E843-F664A137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31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57C3E-D359-85E8-E39D-DA045A4188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3416A-444E-C426-39FC-D2EF0E69B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E6CC7-A866-EDCC-F0EF-D0EED5F9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B70D-A270-7545-B9BE-69DECB607E88}" type="datetime1">
              <a:rPr lang="en-GB" smtClean="0"/>
              <a:t>25/10/2026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E4F1E-2289-EE91-F0B6-37F52B52A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7E3E4-860E-B21F-A086-4594DB082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74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722BFF-AF84-548C-04A6-0D064B647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74E2C-361C-CA93-C83E-99CFE997A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D4C17-66AC-584F-B470-8BE2381F7A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C741E2-4E0C-1E48-965C-F064808A5FF0}" type="datetime1">
              <a:rPr lang="en-GB" smtClean="0"/>
              <a:t>25/10/2026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8498C-9AC5-A57B-9594-87DDDEE18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BB647-0948-90F2-99F7-F6F603F33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39697-445C-5345-9B8B-DB9988CAA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0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C38D9D-8B06-5105-BCA3-CE6D54D7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6555" y="1560084"/>
            <a:ext cx="9978887" cy="5092507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Paper ID: W67.5 </a:t>
            </a:r>
          </a:p>
          <a:p>
            <a:r>
              <a:rPr lang="en-GB" sz="4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were you created? </a:t>
            </a:r>
          </a:p>
          <a:p>
            <a:r>
              <a:rPr lang="en-GB" sz="4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Explaining synthetic face images generated by diffusion models</a:t>
            </a: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Bhushan Atote,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Victor Sanchez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Science,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University of Warwick, UK</a:t>
            </a:r>
            <a:endParaRPr lang="en-GB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50C4BA7-F936-B443-B93A-ABACD36405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"/>
            <a:ext cx="2266122" cy="12227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ACDC26-A26E-B0C7-F699-AC33494ED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759" y="-13252"/>
            <a:ext cx="2075963" cy="1225433"/>
          </a:xfrm>
          <a:prstGeom prst="rect">
            <a:avLst/>
          </a:prstGeom>
        </p:spPr>
      </p:pic>
      <p:pic>
        <p:nvPicPr>
          <p:cNvPr id="9" name="Picture 8" descr="A black and blue logo&#10;&#10;Description automatically generated">
            <a:extLst>
              <a:ext uri="{FF2B5EF4-FFF2-40B4-BE49-F238E27FC236}">
                <a16:creationId xmlns:a16="http://schemas.microsoft.com/office/drawing/2014/main" id="{D742FAB2-6B6A-9C8E-0CC0-6A20AB3B5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610" y="0"/>
            <a:ext cx="5515389" cy="142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311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721167"/>
            <a:ext cx="3513930" cy="88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000000"/>
                </a:solidFill>
                <a:latin typeface="Canva Sans Bold"/>
              </a:rPr>
              <a:t>Outline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51443" y="721167"/>
            <a:ext cx="5950226" cy="5293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2582" lvl="1" indent="-266291"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 Bold"/>
              </a:rPr>
              <a:t>Introduction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  <a:latin typeface="Canva Sans Bold"/>
              </a:rPr>
              <a:t>Diffusion Probabilistic Models 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  <a:latin typeface="Canva Sans Bold"/>
              </a:rPr>
              <a:t>Explainable AI 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  <a:latin typeface="Canva Sans Bold"/>
              </a:rPr>
              <a:t>Motivation</a:t>
            </a:r>
          </a:p>
          <a:p>
            <a:pPr marL="532582" lvl="1" indent="-266291"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 Bold"/>
              </a:rPr>
              <a:t>Proposed EDIPR Model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  <a:latin typeface="Canva Sans Bold"/>
              </a:rPr>
              <a:t>Pre-processing stage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  <a:latin typeface="Canva Sans Bold"/>
              </a:rPr>
              <a:t>Synthesizing stage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  <a:latin typeface="Canva Sans Bold"/>
              </a:rPr>
              <a:t>Explaining stage</a:t>
            </a:r>
          </a:p>
          <a:p>
            <a:pPr marL="532582" lvl="1" indent="-266291"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 Bold"/>
              </a:rPr>
              <a:t>Experiments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  <a:latin typeface="Canva Sans Bold"/>
              </a:rPr>
              <a:t>Implementation Details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  <a:latin typeface="Canva Sans Bold"/>
              </a:rPr>
              <a:t>Explanability</a:t>
            </a:r>
          </a:p>
          <a:p>
            <a:pPr marL="777283" lvl="2" indent="-25909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  <a:latin typeface="Canva Sans Bold"/>
              </a:rPr>
              <a:t>Influence Scores</a:t>
            </a:r>
          </a:p>
          <a:p>
            <a:pPr marL="532582" lvl="1" indent="-266291"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 Bold"/>
              </a:rPr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2699E-08A7-59E0-ED91-1843F3700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31" y="6475618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60000" cy="694360"/>
            <a:chOff x="0" y="76186"/>
            <a:chExt cx="1204148" cy="187566"/>
          </a:xfrm>
          <a:noFill/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grpFill/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80000"/>
              <a:ext cx="1198165" cy="179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5547" y="76420"/>
              <a:ext cx="119261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5983" y="76420"/>
              <a:ext cx="1189323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842" y="76420"/>
              <a:ext cx="1183604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164DBEE3-B1F8-379C-7A71-9A7691FE6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31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97A42-7985-C325-1866-591EC3A4FB19}"/>
              </a:ext>
            </a:extLst>
          </p:cNvPr>
          <p:cNvSpPr txBox="1"/>
          <p:nvPr/>
        </p:nvSpPr>
        <p:spPr>
          <a:xfrm>
            <a:off x="1729951" y="-35558"/>
            <a:ext cx="87496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>
                <a:solidFill>
                  <a:srgbClr val="000000"/>
                </a:solidFill>
                <a:latin typeface="Canva Sans Bold"/>
              </a:rPr>
              <a:t>Introduction </a:t>
            </a:r>
          </a:p>
          <a:p>
            <a:pPr algn="ctr"/>
            <a:r>
              <a:rPr lang="en-US" sz="4600" dirty="0">
                <a:solidFill>
                  <a:srgbClr val="000000"/>
                </a:solidFill>
                <a:latin typeface="Canva Sans Bold"/>
              </a:rPr>
              <a:t>Diffusion Probabilistic Models</a:t>
            </a:r>
            <a:endParaRPr lang="en-US" sz="4600" b="1" dirty="0"/>
          </a:p>
        </p:txBody>
      </p:sp>
      <p:pic>
        <p:nvPicPr>
          <p:cNvPr id="7" name="Picture 6" descr="A diagram of a diagram&#10;&#10;Description automatically generated">
            <a:extLst>
              <a:ext uri="{FF2B5EF4-FFF2-40B4-BE49-F238E27FC236}">
                <a16:creationId xmlns:a16="http://schemas.microsoft.com/office/drawing/2014/main" id="{D40C7376-4396-A294-34F0-165CA9F4D2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728"/>
          <a:stretch/>
        </p:blipFill>
        <p:spPr>
          <a:xfrm>
            <a:off x="2906608" y="1883466"/>
            <a:ext cx="5557343" cy="1074241"/>
          </a:xfrm>
          <a:prstGeom prst="rect">
            <a:avLst/>
          </a:prstGeom>
        </p:spPr>
      </p:pic>
      <p:pic>
        <p:nvPicPr>
          <p:cNvPr id="8" name="Picture 7" descr="A diagram of a diagram&#10;&#10;Description automatically generated">
            <a:extLst>
              <a:ext uri="{FF2B5EF4-FFF2-40B4-BE49-F238E27FC236}">
                <a16:creationId xmlns:a16="http://schemas.microsoft.com/office/drawing/2014/main" id="{01C3CCE4-3693-E5D8-DB11-6942193BAC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681"/>
          <a:stretch/>
        </p:blipFill>
        <p:spPr>
          <a:xfrm>
            <a:off x="2867194" y="4033244"/>
            <a:ext cx="5557343" cy="9541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FBD3B3-3743-D8B7-3D59-5E6E30885592}"/>
                  </a:ext>
                </a:extLst>
              </p:cNvPr>
              <p:cNvSpPr txBox="1"/>
              <p:nvPr/>
            </p:nvSpPr>
            <p:spPr>
              <a:xfrm>
                <a:off x="8424537" y="3356976"/>
                <a:ext cx="7705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=299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FBD3B3-3743-D8B7-3D59-5E6E30885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537" y="3356976"/>
                <a:ext cx="770532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collage of images of a person's face&#10;&#10;Description automatically generated">
            <a:extLst>
              <a:ext uri="{FF2B5EF4-FFF2-40B4-BE49-F238E27FC236}">
                <a16:creationId xmlns:a16="http://schemas.microsoft.com/office/drawing/2014/main" id="{A6A7E524-DA4B-9F69-CC96-5EACBDA52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195" y="3086739"/>
            <a:ext cx="5557343" cy="8687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E93357-089F-99A9-A3C2-CCC141114230}"/>
                  </a:ext>
                </a:extLst>
              </p:cNvPr>
              <p:cNvSpPr txBox="1"/>
              <p:nvPr/>
            </p:nvSpPr>
            <p:spPr>
              <a:xfrm>
                <a:off x="1584932" y="2189242"/>
                <a:ext cx="128226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/>
                  <a:t>Initial dist.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GB" sz="14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GB" sz="1400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E93357-089F-99A9-A3C2-CCC141114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32" y="2189242"/>
                <a:ext cx="1282262" cy="523220"/>
              </a:xfrm>
              <a:prstGeom prst="rect">
                <a:avLst/>
              </a:prstGeom>
              <a:blipFill>
                <a:blip r:embed="rId5"/>
                <a:stretch>
                  <a:fillRect l="-980" t="-2381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D905F11-6793-8E98-79E8-50B5882A368D}"/>
              </a:ext>
            </a:extLst>
          </p:cNvPr>
          <p:cNvSpPr txBox="1"/>
          <p:nvPr/>
        </p:nvSpPr>
        <p:spPr>
          <a:xfrm>
            <a:off x="3680381" y="5317175"/>
            <a:ext cx="484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1 – Denoising Diffusion Probabilistic Model </a:t>
            </a:r>
          </a:p>
        </p:txBody>
      </p:sp>
    </p:spTree>
    <p:extLst>
      <p:ext uri="{BB962C8B-B14F-4D97-AF65-F5344CB8AC3E}">
        <p14:creationId xmlns:p14="http://schemas.microsoft.com/office/powerpoint/2010/main" val="208726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60000" cy="694360"/>
            <a:chOff x="0" y="76186"/>
            <a:chExt cx="1204148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4808" y="80000"/>
              <a:ext cx="1189982" cy="179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40161"/>
            <a:ext cx="3060000" cy="720000"/>
            <a:chOff x="0" y="69260"/>
            <a:chExt cx="1204148" cy="194492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40160"/>
            <a:ext cx="3060000" cy="720000"/>
            <a:chOff x="0" y="69260"/>
            <a:chExt cx="1204148" cy="194492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40161"/>
            <a:ext cx="3060000" cy="720000"/>
            <a:chOff x="0" y="69260"/>
            <a:chExt cx="1204148" cy="194492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47455-4C77-1175-B8CE-B23E18876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2480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AD3F3B-1783-4953-C9C3-5536658C1FF3}"/>
              </a:ext>
            </a:extLst>
          </p:cNvPr>
          <p:cNvSpPr txBox="1"/>
          <p:nvPr/>
        </p:nvSpPr>
        <p:spPr>
          <a:xfrm>
            <a:off x="3981332" y="277789"/>
            <a:ext cx="388782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600" dirty="0">
                <a:solidFill>
                  <a:srgbClr val="000000"/>
                </a:solidFill>
                <a:latin typeface="Canva Sans Bold"/>
              </a:rPr>
              <a:t>Explainable AI</a:t>
            </a:r>
            <a:endParaRPr lang="en-US" sz="4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4034A-42F1-AF1D-7052-14B8B2B8772A}"/>
              </a:ext>
            </a:extLst>
          </p:cNvPr>
          <p:cNvSpPr/>
          <p:nvPr/>
        </p:nvSpPr>
        <p:spPr>
          <a:xfrm>
            <a:off x="4831766" y="1485721"/>
            <a:ext cx="2889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400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5CF13F-93A3-E3C9-4984-5714149E0764}"/>
              </a:ext>
            </a:extLst>
          </p:cNvPr>
          <p:cNvCxnSpPr/>
          <p:nvPr/>
        </p:nvCxnSpPr>
        <p:spPr>
          <a:xfrm>
            <a:off x="5126724" y="1610656"/>
            <a:ext cx="125464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9E20CBE-D63E-A69E-5B78-6BF461F25B49}"/>
              </a:ext>
            </a:extLst>
          </p:cNvPr>
          <p:cNvSpPr txBox="1"/>
          <p:nvPr/>
        </p:nvSpPr>
        <p:spPr>
          <a:xfrm>
            <a:off x="5052290" y="1334218"/>
            <a:ext cx="1428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approach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1BEC1C-3C64-F823-1C51-C49A1A969697}"/>
              </a:ext>
            </a:extLst>
          </p:cNvPr>
          <p:cNvCxnSpPr>
            <a:cxnSpLocks/>
          </p:cNvCxnSpPr>
          <p:nvPr/>
        </p:nvCxnSpPr>
        <p:spPr>
          <a:xfrm>
            <a:off x="5724056" y="1610096"/>
            <a:ext cx="0" cy="180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E404D1-6C35-A2EC-1BAA-3059524C3909}"/>
              </a:ext>
            </a:extLst>
          </p:cNvPr>
          <p:cNvCxnSpPr>
            <a:cxnSpLocks/>
          </p:cNvCxnSpPr>
          <p:nvPr/>
        </p:nvCxnSpPr>
        <p:spPr>
          <a:xfrm>
            <a:off x="4207123" y="1783762"/>
            <a:ext cx="32400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FDB9A7-6898-6E6E-55C4-A23BB95673F4}"/>
              </a:ext>
            </a:extLst>
          </p:cNvPr>
          <p:cNvCxnSpPr>
            <a:cxnSpLocks/>
          </p:cNvCxnSpPr>
          <p:nvPr/>
        </p:nvCxnSpPr>
        <p:spPr>
          <a:xfrm>
            <a:off x="4207137" y="1783761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E6924D-9A72-9D27-6F14-5AC803FB1EE2}"/>
              </a:ext>
            </a:extLst>
          </p:cNvPr>
          <p:cNvCxnSpPr>
            <a:cxnSpLocks/>
          </p:cNvCxnSpPr>
          <p:nvPr/>
        </p:nvCxnSpPr>
        <p:spPr>
          <a:xfrm>
            <a:off x="7442996" y="1787308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4943A0-FA9A-3A2A-6BB9-944C23F43AD4}"/>
              </a:ext>
            </a:extLst>
          </p:cNvPr>
          <p:cNvCxnSpPr>
            <a:cxnSpLocks/>
          </p:cNvCxnSpPr>
          <p:nvPr/>
        </p:nvCxnSpPr>
        <p:spPr>
          <a:xfrm>
            <a:off x="3625894" y="2255134"/>
            <a:ext cx="11160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3A11E8F-B31A-30BE-C1F0-D197D80941F8}"/>
              </a:ext>
            </a:extLst>
          </p:cNvPr>
          <p:cNvSpPr txBox="1"/>
          <p:nvPr/>
        </p:nvSpPr>
        <p:spPr>
          <a:xfrm>
            <a:off x="3512990" y="1879639"/>
            <a:ext cx="1388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Analysis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CAF418-27D4-7CF0-5ECE-1248C88E3352}"/>
              </a:ext>
            </a:extLst>
          </p:cNvPr>
          <p:cNvSpPr txBox="1"/>
          <p:nvPr/>
        </p:nvSpPr>
        <p:spPr>
          <a:xfrm>
            <a:off x="6245392" y="1918433"/>
            <a:ext cx="2395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DNN decisions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E5C3000-55BD-FBBA-3E6E-1D9618F7E637}"/>
              </a:ext>
            </a:extLst>
          </p:cNvPr>
          <p:cNvCxnSpPr>
            <a:cxnSpLocks/>
          </p:cNvCxnSpPr>
          <p:nvPr/>
        </p:nvCxnSpPr>
        <p:spPr>
          <a:xfrm>
            <a:off x="4221319" y="2148823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30BE45-9FA7-1266-C53E-6769C502651D}"/>
              </a:ext>
            </a:extLst>
          </p:cNvPr>
          <p:cNvCxnSpPr>
            <a:cxnSpLocks/>
          </p:cNvCxnSpPr>
          <p:nvPr/>
        </p:nvCxnSpPr>
        <p:spPr>
          <a:xfrm>
            <a:off x="7467801" y="2152360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9DB6FFE-6498-3529-DD52-2D1E3637FD59}"/>
              </a:ext>
            </a:extLst>
          </p:cNvPr>
          <p:cNvCxnSpPr>
            <a:cxnSpLocks/>
          </p:cNvCxnSpPr>
          <p:nvPr/>
        </p:nvCxnSpPr>
        <p:spPr>
          <a:xfrm>
            <a:off x="6308832" y="2258672"/>
            <a:ext cx="21240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FF8AA41-460F-6748-2015-F8FAA3D1D756}"/>
              </a:ext>
            </a:extLst>
          </p:cNvPr>
          <p:cNvCxnSpPr>
            <a:cxnSpLocks/>
          </p:cNvCxnSpPr>
          <p:nvPr/>
        </p:nvCxnSpPr>
        <p:spPr>
          <a:xfrm>
            <a:off x="8921975" y="2752716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6A2A27-1A35-DAB7-F7C1-3ADA5712973A}"/>
              </a:ext>
            </a:extLst>
          </p:cNvPr>
          <p:cNvCxnSpPr>
            <a:cxnSpLocks/>
          </p:cNvCxnSpPr>
          <p:nvPr/>
        </p:nvCxnSpPr>
        <p:spPr>
          <a:xfrm>
            <a:off x="3631355" y="2256256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38DCDD-F54B-25D9-7CD6-4F9CB03490C8}"/>
              </a:ext>
            </a:extLst>
          </p:cNvPr>
          <p:cNvCxnSpPr>
            <a:cxnSpLocks/>
          </p:cNvCxnSpPr>
          <p:nvPr/>
        </p:nvCxnSpPr>
        <p:spPr>
          <a:xfrm>
            <a:off x="8431828" y="2255140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5FBC1DB-6516-E5AF-ABB0-4C32EE91ADE6}"/>
              </a:ext>
            </a:extLst>
          </p:cNvPr>
          <p:cNvCxnSpPr>
            <a:cxnSpLocks/>
          </p:cNvCxnSpPr>
          <p:nvPr/>
        </p:nvCxnSpPr>
        <p:spPr>
          <a:xfrm>
            <a:off x="4749399" y="2251598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1EF243F-57AC-C66F-C591-193A3B9253F8}"/>
              </a:ext>
            </a:extLst>
          </p:cNvPr>
          <p:cNvCxnSpPr>
            <a:cxnSpLocks/>
          </p:cNvCxnSpPr>
          <p:nvPr/>
        </p:nvCxnSpPr>
        <p:spPr>
          <a:xfrm>
            <a:off x="6305311" y="2255148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C562B9E-5C32-6D95-29F6-112C281E4265}"/>
              </a:ext>
            </a:extLst>
          </p:cNvPr>
          <p:cNvSpPr txBox="1"/>
          <p:nvPr/>
        </p:nvSpPr>
        <p:spPr>
          <a:xfrm>
            <a:off x="3066696" y="2353487"/>
            <a:ext cx="1129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299FA1-5C45-5967-DE14-3274758AB14E}"/>
              </a:ext>
            </a:extLst>
          </p:cNvPr>
          <p:cNvSpPr txBox="1"/>
          <p:nvPr/>
        </p:nvSpPr>
        <p:spPr>
          <a:xfrm>
            <a:off x="4184740" y="2353487"/>
            <a:ext cx="1129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Dissection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C6EBF96-3818-B480-C3A9-21F08F0C0728}"/>
              </a:ext>
            </a:extLst>
          </p:cNvPr>
          <p:cNvCxnSpPr>
            <a:cxnSpLocks/>
          </p:cNvCxnSpPr>
          <p:nvPr/>
        </p:nvCxnSpPr>
        <p:spPr>
          <a:xfrm>
            <a:off x="3012753" y="2928531"/>
            <a:ext cx="11160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6AF8FA4-2E9F-EC5B-4AC9-042D86662553}"/>
              </a:ext>
            </a:extLst>
          </p:cNvPr>
          <p:cNvCxnSpPr>
            <a:cxnSpLocks/>
          </p:cNvCxnSpPr>
          <p:nvPr/>
        </p:nvCxnSpPr>
        <p:spPr>
          <a:xfrm>
            <a:off x="3586912" y="2822220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BFE11CD-79CB-79D1-752B-1FB3DB121B3D}"/>
              </a:ext>
            </a:extLst>
          </p:cNvPr>
          <p:cNvCxnSpPr>
            <a:cxnSpLocks/>
          </p:cNvCxnSpPr>
          <p:nvPr/>
        </p:nvCxnSpPr>
        <p:spPr>
          <a:xfrm>
            <a:off x="3018214" y="2929653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9D87D8-60C9-AEA0-7250-2DA8489D53C3}"/>
              </a:ext>
            </a:extLst>
          </p:cNvPr>
          <p:cNvCxnSpPr>
            <a:cxnSpLocks/>
          </p:cNvCxnSpPr>
          <p:nvPr/>
        </p:nvCxnSpPr>
        <p:spPr>
          <a:xfrm>
            <a:off x="7481975" y="2761947"/>
            <a:ext cx="14400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882510B-7913-8798-995D-DE6BEDC76430}"/>
              </a:ext>
            </a:extLst>
          </p:cNvPr>
          <p:cNvCxnSpPr>
            <a:cxnSpLocks/>
          </p:cNvCxnSpPr>
          <p:nvPr/>
        </p:nvCxnSpPr>
        <p:spPr>
          <a:xfrm>
            <a:off x="8258156" y="2655636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F39234-C03C-7353-EA59-630668C9FC73}"/>
              </a:ext>
            </a:extLst>
          </p:cNvPr>
          <p:cNvCxnSpPr>
            <a:cxnSpLocks/>
          </p:cNvCxnSpPr>
          <p:nvPr/>
        </p:nvCxnSpPr>
        <p:spPr>
          <a:xfrm>
            <a:off x="7487436" y="2763069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F4F3D42-EBA2-4F40-EAF2-D18500A94763}"/>
              </a:ext>
            </a:extLst>
          </p:cNvPr>
          <p:cNvCxnSpPr>
            <a:cxnSpLocks/>
          </p:cNvCxnSpPr>
          <p:nvPr/>
        </p:nvCxnSpPr>
        <p:spPr>
          <a:xfrm>
            <a:off x="4125619" y="2924994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E882E31-D9D8-77BF-C825-7D50E14C1CA9}"/>
              </a:ext>
            </a:extLst>
          </p:cNvPr>
          <p:cNvSpPr txBox="1"/>
          <p:nvPr/>
        </p:nvSpPr>
        <p:spPr>
          <a:xfrm>
            <a:off x="2319737" y="3016247"/>
            <a:ext cx="1305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Deconvolution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EF47D5-D625-32D7-02FF-9FCD38FBDD05}"/>
              </a:ext>
            </a:extLst>
          </p:cNvPr>
          <p:cNvSpPr txBox="1"/>
          <p:nvPr/>
        </p:nvSpPr>
        <p:spPr>
          <a:xfrm>
            <a:off x="3472791" y="2953525"/>
            <a:ext cx="1305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2A883A-478F-C557-FCB1-890968F892D8}"/>
              </a:ext>
            </a:extLst>
          </p:cNvPr>
          <p:cNvSpPr txBox="1"/>
          <p:nvPr/>
        </p:nvSpPr>
        <p:spPr>
          <a:xfrm>
            <a:off x="5696045" y="2315382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71D637-3857-5384-9291-0794B0BD7EDE}"/>
              </a:ext>
            </a:extLst>
          </p:cNvPr>
          <p:cNvSpPr txBox="1"/>
          <p:nvPr/>
        </p:nvSpPr>
        <p:spPr>
          <a:xfrm>
            <a:off x="7248396" y="2357916"/>
            <a:ext cx="22862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– based Explanation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56E83E-458D-1B87-8977-DFBACC8C0A2A}"/>
              </a:ext>
            </a:extLst>
          </p:cNvPr>
          <p:cNvSpPr txBox="1"/>
          <p:nvPr/>
        </p:nvSpPr>
        <p:spPr>
          <a:xfrm>
            <a:off x="6816009" y="2818653"/>
            <a:ext cx="1122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3D30D-0711-EA85-1799-0771CBF25E74}"/>
              </a:ext>
            </a:extLst>
          </p:cNvPr>
          <p:cNvSpPr txBox="1"/>
          <p:nvPr/>
        </p:nvSpPr>
        <p:spPr>
          <a:xfrm>
            <a:off x="8401351" y="2800929"/>
            <a:ext cx="1051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Linguistic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D891C81-51BE-1B30-A350-AF4712D02B0A}"/>
              </a:ext>
            </a:extLst>
          </p:cNvPr>
          <p:cNvCxnSpPr/>
          <p:nvPr/>
        </p:nvCxnSpPr>
        <p:spPr>
          <a:xfrm>
            <a:off x="5179892" y="4216914"/>
            <a:ext cx="1254642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0F51A99-776D-3B31-FA7B-D3227EEDD1ED}"/>
              </a:ext>
            </a:extLst>
          </p:cNvPr>
          <p:cNvSpPr txBox="1"/>
          <p:nvPr/>
        </p:nvSpPr>
        <p:spPr>
          <a:xfrm>
            <a:off x="5126724" y="3940476"/>
            <a:ext cx="1367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approach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55B04C8-FD96-901B-C58A-40114C435E3C}"/>
              </a:ext>
            </a:extLst>
          </p:cNvPr>
          <p:cNvCxnSpPr>
            <a:cxnSpLocks/>
          </p:cNvCxnSpPr>
          <p:nvPr/>
        </p:nvCxnSpPr>
        <p:spPr>
          <a:xfrm>
            <a:off x="5777224" y="4216354"/>
            <a:ext cx="0" cy="180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6E1E9A1-D348-9058-10CD-587C986FE98C}"/>
              </a:ext>
            </a:extLst>
          </p:cNvPr>
          <p:cNvCxnSpPr>
            <a:cxnSpLocks/>
          </p:cNvCxnSpPr>
          <p:nvPr/>
        </p:nvCxnSpPr>
        <p:spPr>
          <a:xfrm>
            <a:off x="4260290" y="4390020"/>
            <a:ext cx="3312000" cy="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9B7B10F-78E9-D431-F286-BE8AE22AC43A}"/>
              </a:ext>
            </a:extLst>
          </p:cNvPr>
          <p:cNvCxnSpPr>
            <a:cxnSpLocks/>
          </p:cNvCxnSpPr>
          <p:nvPr/>
        </p:nvCxnSpPr>
        <p:spPr>
          <a:xfrm>
            <a:off x="4260305" y="4390019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C976423-B0BD-19D7-A771-FC8C35ED868E}"/>
              </a:ext>
            </a:extLst>
          </p:cNvPr>
          <p:cNvCxnSpPr>
            <a:cxnSpLocks/>
          </p:cNvCxnSpPr>
          <p:nvPr/>
        </p:nvCxnSpPr>
        <p:spPr>
          <a:xfrm>
            <a:off x="5848114" y="4393566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B4CD7D2-EABE-3CA7-B86E-50017BE6174F}"/>
              </a:ext>
            </a:extLst>
          </p:cNvPr>
          <p:cNvSpPr txBox="1"/>
          <p:nvPr/>
        </p:nvSpPr>
        <p:spPr>
          <a:xfrm>
            <a:off x="3574392" y="4475264"/>
            <a:ext cx="1307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94448D-DF6D-D382-AF4B-01E013A23E2F}"/>
              </a:ext>
            </a:extLst>
          </p:cNvPr>
          <p:cNvSpPr txBox="1"/>
          <p:nvPr/>
        </p:nvSpPr>
        <p:spPr>
          <a:xfrm>
            <a:off x="5065197" y="4482159"/>
            <a:ext cx="1500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Attention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AE54B0B-0FC7-CB70-7257-B940573AA791}"/>
              </a:ext>
            </a:extLst>
          </p:cNvPr>
          <p:cNvCxnSpPr>
            <a:cxnSpLocks/>
          </p:cNvCxnSpPr>
          <p:nvPr/>
        </p:nvCxnSpPr>
        <p:spPr>
          <a:xfrm>
            <a:off x="7572290" y="4398238"/>
            <a:ext cx="0" cy="1080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A7AD1EB-982C-1AC2-9700-23EA12FBA2B5}"/>
              </a:ext>
            </a:extLst>
          </p:cNvPr>
          <p:cNvSpPr txBox="1"/>
          <p:nvPr/>
        </p:nvSpPr>
        <p:spPr>
          <a:xfrm>
            <a:off x="6780301" y="4475064"/>
            <a:ext cx="1564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– driven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D05814-D061-99ED-3216-AFD4B348281F}"/>
              </a:ext>
            </a:extLst>
          </p:cNvPr>
          <p:cNvSpPr txBox="1"/>
          <p:nvPr/>
        </p:nvSpPr>
        <p:spPr>
          <a:xfrm>
            <a:off x="4029371" y="5463249"/>
            <a:ext cx="4524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2 – Taxonomy of Explainable AI methods</a:t>
            </a:r>
          </a:p>
        </p:txBody>
      </p:sp>
    </p:spTree>
    <p:extLst>
      <p:ext uri="{BB962C8B-B14F-4D97-AF65-F5344CB8AC3E}">
        <p14:creationId xmlns:p14="http://schemas.microsoft.com/office/powerpoint/2010/main" val="236190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60976" cy="694360"/>
            <a:chOff x="0" y="76186"/>
            <a:chExt cx="1204532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10430" y="80000"/>
              <a:ext cx="1194102" cy="179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40161"/>
            <a:ext cx="3060000" cy="720000"/>
            <a:chOff x="0" y="69260"/>
            <a:chExt cx="1204148" cy="194492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40160"/>
            <a:ext cx="3060000" cy="720000"/>
            <a:chOff x="0" y="69260"/>
            <a:chExt cx="1204148" cy="194492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40161"/>
            <a:ext cx="3060000" cy="720000"/>
            <a:chOff x="0" y="69260"/>
            <a:chExt cx="1204148" cy="194492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94983" y="69260"/>
              <a:ext cx="1038509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034CC-B0EC-0160-6FA2-AAD498C8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31" y="6449114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F39A3-92DC-6B91-795F-DC29ADDF2FD2}"/>
              </a:ext>
            </a:extLst>
          </p:cNvPr>
          <p:cNvSpPr txBox="1"/>
          <p:nvPr/>
        </p:nvSpPr>
        <p:spPr>
          <a:xfrm>
            <a:off x="3128311" y="162246"/>
            <a:ext cx="606549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600" dirty="0">
                <a:solidFill>
                  <a:srgbClr val="000000"/>
                </a:solidFill>
                <a:latin typeface="Canva Sans Bold"/>
              </a:rPr>
              <a:t>Motivation - DeepFakes</a:t>
            </a:r>
            <a:endParaRPr lang="en-US" sz="4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AA7A6D-7590-111C-F18C-4D3E73448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462" y="1911357"/>
            <a:ext cx="4351773" cy="242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C059A0-5DDE-4261-4ACA-9D21590DF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401" y="1896912"/>
            <a:ext cx="491740" cy="2426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56205F-1CFD-0897-732A-FF1509CC8D43}"/>
              </a:ext>
            </a:extLst>
          </p:cNvPr>
          <p:cNvSpPr txBox="1"/>
          <p:nvPr/>
        </p:nvSpPr>
        <p:spPr>
          <a:xfrm>
            <a:off x="2484669" y="1513185"/>
            <a:ext cx="2151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Images from training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B19992-3015-04EF-F560-A9A85DA2FCEE}"/>
              </a:ext>
            </a:extLst>
          </p:cNvPr>
          <p:cNvSpPr txBox="1"/>
          <p:nvPr/>
        </p:nvSpPr>
        <p:spPr>
          <a:xfrm>
            <a:off x="6851686" y="1339485"/>
            <a:ext cx="195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Generated synthetic </a:t>
            </a:r>
          </a:p>
          <a:p>
            <a:pPr algn="ctr"/>
            <a:r>
              <a:rPr lang="en-US" sz="1400" dirty="0"/>
              <a:t>images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1ED8EF-E619-978A-FD97-CFAC9331B378}"/>
              </a:ext>
            </a:extLst>
          </p:cNvPr>
          <p:cNvSpPr txBox="1"/>
          <p:nvPr/>
        </p:nvSpPr>
        <p:spPr>
          <a:xfrm>
            <a:off x="8405427" y="1888496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158E71-02E1-7464-B56C-7B1C054399F3}"/>
              </a:ext>
            </a:extLst>
          </p:cNvPr>
          <p:cNvSpPr txBox="1"/>
          <p:nvPr/>
        </p:nvSpPr>
        <p:spPr>
          <a:xfrm>
            <a:off x="8409870" y="2493743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0.32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189404-514B-3D70-D020-F714B972CAFB}"/>
              </a:ext>
            </a:extLst>
          </p:cNvPr>
          <p:cNvSpPr txBox="1"/>
          <p:nvPr/>
        </p:nvSpPr>
        <p:spPr>
          <a:xfrm>
            <a:off x="8401062" y="3664358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0.17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E01C90-C448-C052-AE7A-E243140C2E69}"/>
              </a:ext>
            </a:extLst>
          </p:cNvPr>
          <p:cNvSpPr txBox="1"/>
          <p:nvPr/>
        </p:nvSpPr>
        <p:spPr>
          <a:xfrm>
            <a:off x="8401062" y="3071964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0.25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E62F1F-1D40-A21D-E014-14E3B01E53D8}"/>
              </a:ext>
            </a:extLst>
          </p:cNvPr>
          <p:cNvCxnSpPr/>
          <p:nvPr/>
        </p:nvCxnSpPr>
        <p:spPr>
          <a:xfrm>
            <a:off x="8438684" y="2146248"/>
            <a:ext cx="4155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799DEC8-7F56-6984-EBCF-5363E9F7B824}"/>
              </a:ext>
            </a:extLst>
          </p:cNvPr>
          <p:cNvCxnSpPr/>
          <p:nvPr/>
        </p:nvCxnSpPr>
        <p:spPr>
          <a:xfrm>
            <a:off x="8438684" y="2731102"/>
            <a:ext cx="4155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C002DD7-4FAC-6E5E-9F36-A528A15C03A4}"/>
              </a:ext>
            </a:extLst>
          </p:cNvPr>
          <p:cNvCxnSpPr/>
          <p:nvPr/>
        </p:nvCxnSpPr>
        <p:spPr>
          <a:xfrm>
            <a:off x="8438684" y="3317226"/>
            <a:ext cx="4155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002A3E-5A7B-1829-3CDA-DAD755012F58}"/>
              </a:ext>
            </a:extLst>
          </p:cNvPr>
          <p:cNvCxnSpPr/>
          <p:nvPr/>
        </p:nvCxnSpPr>
        <p:spPr>
          <a:xfrm>
            <a:off x="8442812" y="3891364"/>
            <a:ext cx="4155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00FD04A-1DB6-842E-5AC5-3AFB2353E217}"/>
              </a:ext>
            </a:extLst>
          </p:cNvPr>
          <p:cNvSpPr txBox="1"/>
          <p:nvPr/>
        </p:nvSpPr>
        <p:spPr>
          <a:xfrm>
            <a:off x="8280559" y="4221070"/>
            <a:ext cx="12469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Influence score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5D76868-90F4-8A86-AB1A-DA70A9F937C1}"/>
              </a:ext>
            </a:extLst>
          </p:cNvPr>
          <p:cNvCxnSpPr/>
          <p:nvPr/>
        </p:nvCxnSpPr>
        <p:spPr>
          <a:xfrm>
            <a:off x="5723629" y="3122073"/>
            <a:ext cx="4155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F200526-E411-6519-C448-118FA5B64FA9}"/>
              </a:ext>
            </a:extLst>
          </p:cNvPr>
          <p:cNvSpPr/>
          <p:nvPr/>
        </p:nvSpPr>
        <p:spPr>
          <a:xfrm>
            <a:off x="6139207" y="2764841"/>
            <a:ext cx="1028525" cy="73326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6C5546-8237-688B-0831-B7C62EFCEE9A}"/>
              </a:ext>
            </a:extLst>
          </p:cNvPr>
          <p:cNvSpPr txBox="1"/>
          <p:nvPr/>
        </p:nvSpPr>
        <p:spPr>
          <a:xfrm>
            <a:off x="6161058" y="2891240"/>
            <a:ext cx="981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Diffusion</a:t>
            </a:r>
          </a:p>
          <a:p>
            <a:pPr algn="ctr"/>
            <a:r>
              <a:rPr lang="en-US" sz="1200" dirty="0"/>
              <a:t> Model (DM)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62632CB-9571-3959-7441-EC2827B79F86}"/>
              </a:ext>
            </a:extLst>
          </p:cNvPr>
          <p:cNvCxnSpPr/>
          <p:nvPr/>
        </p:nvCxnSpPr>
        <p:spPr>
          <a:xfrm>
            <a:off x="7167732" y="3122073"/>
            <a:ext cx="4155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FCDEF384-4152-61B4-4763-CB225BA8788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854262" y="1911357"/>
            <a:ext cx="482400" cy="4824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BC219DF-CA1A-85BA-AE0F-CBF07DCA071D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854262" y="2483153"/>
            <a:ext cx="482400" cy="4824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0CF9EA4-B4B2-3C41-08E8-C890EDB3F029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854262" y="3065539"/>
            <a:ext cx="482400" cy="4824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D2856A5-8C4D-3490-C1E1-486AC30B46DF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8854262" y="3650164"/>
            <a:ext cx="482400" cy="48240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2AF8BB6-5EF2-89C9-9F7F-0ED32347CACD}"/>
              </a:ext>
            </a:extLst>
          </p:cNvPr>
          <p:cNvCxnSpPr>
            <a:cxnSpLocks/>
          </p:cNvCxnSpPr>
          <p:nvPr/>
        </p:nvCxnSpPr>
        <p:spPr>
          <a:xfrm>
            <a:off x="8076141" y="2599746"/>
            <a:ext cx="3568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DB2FAA-DEFE-3423-2BF5-9E76DE609A45}"/>
              </a:ext>
            </a:extLst>
          </p:cNvPr>
          <p:cNvCxnSpPr/>
          <p:nvPr/>
        </p:nvCxnSpPr>
        <p:spPr>
          <a:xfrm>
            <a:off x="8438684" y="2146248"/>
            <a:ext cx="0" cy="17451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825FA43-2676-9E18-26CC-FEEE5DAB1960}"/>
              </a:ext>
            </a:extLst>
          </p:cNvPr>
          <p:cNvSpPr txBox="1"/>
          <p:nvPr/>
        </p:nvSpPr>
        <p:spPr>
          <a:xfrm>
            <a:off x="4949590" y="4996283"/>
            <a:ext cx="1951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3 – Motivation</a:t>
            </a: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31A983F6-2558-F0DF-1751-285C87F0132C}"/>
              </a:ext>
            </a:extLst>
          </p:cNvPr>
          <p:cNvSpPr txBox="1"/>
          <p:nvPr/>
        </p:nvSpPr>
        <p:spPr>
          <a:xfrm>
            <a:off x="-1035" y="6179922"/>
            <a:ext cx="3024001" cy="66509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3594"/>
              </a:lnSpc>
            </a:pPr>
            <a:r>
              <a:rPr lang="en-US" sz="2567" dirty="0">
                <a:solidFill>
                  <a:srgbClr val="000000"/>
                </a:solidFill>
                <a:latin typeface="Canva Sans Bold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55378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61C8-5F7B-B8D3-D010-F5A9D487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CEA02D-57F2-F737-32A6-3321DBAE1305}"/>
              </a:ext>
            </a:extLst>
          </p:cNvPr>
          <p:cNvSpPr txBox="1"/>
          <p:nvPr/>
        </p:nvSpPr>
        <p:spPr>
          <a:xfrm>
            <a:off x="3013252" y="25999"/>
            <a:ext cx="61830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rgbClr val="000000"/>
                </a:solidFill>
                <a:latin typeface="Canva Sans Bold"/>
              </a:rPr>
              <a:t>Proposed EDIPR Model</a:t>
            </a:r>
            <a:endParaRPr lang="en-US" sz="4600" dirty="0"/>
          </a:p>
        </p:txBody>
      </p:sp>
      <p:pic>
        <p:nvPicPr>
          <p:cNvPr id="8" name="Picture 7" descr="A diagram of a process&#10;&#10;Description automatically generated">
            <a:extLst>
              <a:ext uri="{FF2B5EF4-FFF2-40B4-BE49-F238E27FC236}">
                <a16:creationId xmlns:a16="http://schemas.microsoft.com/office/drawing/2014/main" id="{5C4F288D-1AA7-4A79-0F26-5DEBBAB5E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509" y="753747"/>
            <a:ext cx="7772400" cy="50455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3EB5D4-440A-839E-E7D5-9A4392A16F2F}"/>
              </a:ext>
            </a:extLst>
          </p:cNvPr>
          <p:cNvSpPr txBox="1"/>
          <p:nvPr/>
        </p:nvSpPr>
        <p:spPr>
          <a:xfrm>
            <a:off x="2438401" y="5791202"/>
            <a:ext cx="7762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4 – Architecture of the Explainable DIffusion PRobabilistic (EDIPR)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737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61C8-5F7B-B8D3-D010-F5A9D487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7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99CD7C-6E42-0822-20D3-DEF71E7B1DA3}"/>
              </a:ext>
            </a:extLst>
          </p:cNvPr>
          <p:cNvSpPr txBox="1"/>
          <p:nvPr/>
        </p:nvSpPr>
        <p:spPr>
          <a:xfrm>
            <a:off x="3033131" y="57013"/>
            <a:ext cx="6169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rgbClr val="000000"/>
                </a:solidFill>
                <a:latin typeface="Canva Sans Bold"/>
              </a:rPr>
              <a:t>Pre-processing stage</a:t>
            </a:r>
          </a:p>
        </p:txBody>
      </p:sp>
      <p:pic>
        <p:nvPicPr>
          <p:cNvPr id="8" name="Picture 7" descr="A collage of different people's faces&#10;&#10;Description automatically generated">
            <a:extLst>
              <a:ext uri="{FF2B5EF4-FFF2-40B4-BE49-F238E27FC236}">
                <a16:creationId xmlns:a16="http://schemas.microsoft.com/office/drawing/2014/main" id="{940866EC-4072-78E3-FF41-D86F82227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79" y="1113297"/>
            <a:ext cx="6363570" cy="34497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5EC146-805A-339A-C8B5-E0237A333FC3}"/>
              </a:ext>
            </a:extLst>
          </p:cNvPr>
          <p:cNvSpPr txBox="1"/>
          <p:nvPr/>
        </p:nvSpPr>
        <p:spPr>
          <a:xfrm>
            <a:off x="1729062" y="4795023"/>
            <a:ext cx="3986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5 – Classes/ formation of clusters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D588E5-5078-62AB-5F23-ACFBF8FB6016}"/>
              </a:ext>
            </a:extLst>
          </p:cNvPr>
          <p:cNvSpPr txBox="1"/>
          <p:nvPr/>
        </p:nvSpPr>
        <p:spPr>
          <a:xfrm>
            <a:off x="7395269" y="1505904"/>
            <a:ext cx="440851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Dataset: 	</a:t>
            </a:r>
            <a:r>
              <a:rPr lang="en-US" sz="3000" dirty="0"/>
              <a:t>FFHQ dataset </a:t>
            </a:r>
          </a:p>
          <a:p>
            <a:r>
              <a:rPr lang="en-US" sz="3000" dirty="0"/>
              <a:t>		(70k real face </a:t>
            </a:r>
          </a:p>
          <a:p>
            <a:r>
              <a:rPr lang="en-US" sz="3000" dirty="0"/>
              <a:t>			images)</a:t>
            </a:r>
          </a:p>
        </p:txBody>
      </p:sp>
    </p:spTree>
    <p:extLst>
      <p:ext uri="{BB962C8B-B14F-4D97-AF65-F5344CB8AC3E}">
        <p14:creationId xmlns:p14="http://schemas.microsoft.com/office/powerpoint/2010/main" val="3344178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61C8-5F7B-B8D3-D010-F5A9D487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8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633399-CCD9-DF60-DBE6-50C70E512C0A}"/>
              </a:ext>
            </a:extLst>
          </p:cNvPr>
          <p:cNvSpPr txBox="1"/>
          <p:nvPr/>
        </p:nvSpPr>
        <p:spPr>
          <a:xfrm>
            <a:off x="3184889" y="211528"/>
            <a:ext cx="5798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8189" lvl="2"/>
            <a:r>
              <a:rPr lang="en-US" sz="4800" dirty="0">
                <a:solidFill>
                  <a:srgbClr val="000000"/>
                </a:solidFill>
                <a:latin typeface="Canva Sans Bold"/>
              </a:rPr>
              <a:t>Synthesizing stage</a:t>
            </a:r>
          </a:p>
        </p:txBody>
      </p:sp>
      <p:pic>
        <p:nvPicPr>
          <p:cNvPr id="8" name="Picture 7" descr="A diagram of a person's face&#10;&#10;Description automatically generated">
            <a:extLst>
              <a:ext uri="{FF2B5EF4-FFF2-40B4-BE49-F238E27FC236}">
                <a16:creationId xmlns:a16="http://schemas.microsoft.com/office/drawing/2014/main" id="{595082AB-55D8-4FE4-1545-93AAC273E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264" y="1163202"/>
            <a:ext cx="6575563" cy="42844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48129E-804F-A355-3633-B06C6F99BDFA}"/>
              </a:ext>
            </a:extLst>
          </p:cNvPr>
          <p:cNvSpPr txBox="1"/>
          <p:nvPr/>
        </p:nvSpPr>
        <p:spPr>
          <a:xfrm>
            <a:off x="4658160" y="5675791"/>
            <a:ext cx="2481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6 – U-Net for EDIPR</a:t>
            </a:r>
          </a:p>
        </p:txBody>
      </p:sp>
    </p:spTree>
    <p:extLst>
      <p:ext uri="{BB962C8B-B14F-4D97-AF65-F5344CB8AC3E}">
        <p14:creationId xmlns:p14="http://schemas.microsoft.com/office/powerpoint/2010/main" val="4156705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61C8-5F7B-B8D3-D010-F5A9D487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9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DEC08F-5ACC-8FB2-ADF1-8C74760E7615}"/>
              </a:ext>
            </a:extLst>
          </p:cNvPr>
          <p:cNvSpPr txBox="1"/>
          <p:nvPr/>
        </p:nvSpPr>
        <p:spPr>
          <a:xfrm>
            <a:off x="3265043" y="264536"/>
            <a:ext cx="56795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rgbClr val="000000"/>
                </a:solidFill>
                <a:latin typeface="Canva Sans Bold"/>
              </a:rPr>
              <a:t>Explaining stage</a:t>
            </a:r>
            <a:endParaRPr lang="en-US" sz="4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DA785-4490-A785-D507-220AAD0F64B9}"/>
              </a:ext>
            </a:extLst>
          </p:cNvPr>
          <p:cNvSpPr txBox="1"/>
          <p:nvPr/>
        </p:nvSpPr>
        <p:spPr>
          <a:xfrm>
            <a:off x="3789942" y="5376098"/>
            <a:ext cx="465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7 – Prototypes in the form of explanations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CF28B7-82B9-613C-103A-1F47B0E08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513" y="1047780"/>
            <a:ext cx="8477069" cy="428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639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61C8-5F7B-B8D3-D010-F5A9D487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10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17FCB-8556-BFDF-E69E-170F2A3FE218}"/>
              </a:ext>
            </a:extLst>
          </p:cNvPr>
          <p:cNvSpPr txBox="1"/>
          <p:nvPr/>
        </p:nvSpPr>
        <p:spPr>
          <a:xfrm>
            <a:off x="3981332" y="277789"/>
            <a:ext cx="38878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rgbClr val="000000"/>
                </a:solidFill>
                <a:latin typeface="Canva Sans Bold"/>
              </a:rPr>
              <a:t>Experiments</a:t>
            </a:r>
            <a:endParaRPr lang="en-US" sz="4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07750-1E2F-EB0A-84D6-A3326E9A78A2}"/>
              </a:ext>
            </a:extLst>
          </p:cNvPr>
          <p:cNvSpPr txBox="1"/>
          <p:nvPr/>
        </p:nvSpPr>
        <p:spPr>
          <a:xfrm>
            <a:off x="2857364" y="1135044"/>
            <a:ext cx="61357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8189" lvl="2"/>
            <a:r>
              <a:rPr lang="en-US" sz="4000" dirty="0">
                <a:solidFill>
                  <a:srgbClr val="000000"/>
                </a:solidFill>
                <a:latin typeface="Canva Sans Bold"/>
              </a:rPr>
              <a:t>Implementation Details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2416B7-D325-11AA-5AD7-3653D3B88839}"/>
              </a:ext>
            </a:extLst>
          </p:cNvPr>
          <p:cNvSpPr txBox="1"/>
          <p:nvPr/>
        </p:nvSpPr>
        <p:spPr>
          <a:xfrm>
            <a:off x="7400716" y="2132276"/>
            <a:ext cx="47045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Dataset: </a:t>
            </a:r>
            <a:r>
              <a:rPr lang="en-US" sz="3000" dirty="0"/>
              <a:t>FFHQ dataset (70k real face images)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0338A4-B475-A173-5362-F2D3A7468882}"/>
              </a:ext>
            </a:extLst>
          </p:cNvPr>
          <p:cNvSpPr txBox="1"/>
          <p:nvPr/>
        </p:nvSpPr>
        <p:spPr>
          <a:xfrm>
            <a:off x="7361695" y="3264372"/>
            <a:ext cx="4916346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In explaining state (EPPNet), </a:t>
            </a:r>
          </a:p>
          <a:p>
            <a:r>
              <a:rPr lang="en-US" sz="3000" dirty="0"/>
              <a:t>we identify 350K distinct </a:t>
            </a:r>
          </a:p>
          <a:p>
            <a:r>
              <a:rPr lang="en-US" sz="3000" dirty="0"/>
              <a:t>prototypes, 10 prototypes</a:t>
            </a:r>
          </a:p>
          <a:p>
            <a:r>
              <a:rPr lang="en-US" sz="3000" dirty="0"/>
              <a:t>per image</a:t>
            </a:r>
          </a:p>
          <a:p>
            <a:endParaRPr lang="en-US" sz="3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58B42D-9617-13F6-9B34-207613ADB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52" y="2100189"/>
            <a:ext cx="74168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07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61C8-5F7B-B8D3-D010-F5A9D487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DD2D92-1EE0-2A15-8480-9D4CE599D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799" y="1839104"/>
            <a:ext cx="8348401" cy="31797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F07CCD-E92F-1550-6777-9A7959A7555A}"/>
              </a:ext>
            </a:extLst>
          </p:cNvPr>
          <p:cNvSpPr txBox="1"/>
          <p:nvPr/>
        </p:nvSpPr>
        <p:spPr>
          <a:xfrm>
            <a:off x="3981332" y="277789"/>
            <a:ext cx="38878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rgbClr val="000000"/>
                </a:solidFill>
                <a:latin typeface="Canva Sans Bold"/>
              </a:rPr>
              <a:t>Experiments</a:t>
            </a:r>
            <a:endParaRPr lang="en-US" sz="4600" dirty="0"/>
          </a:p>
        </p:txBody>
      </p:sp>
    </p:spTree>
    <p:extLst>
      <p:ext uri="{BB962C8B-B14F-4D97-AF65-F5344CB8AC3E}">
        <p14:creationId xmlns:p14="http://schemas.microsoft.com/office/powerpoint/2010/main" val="2406908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61C8-5F7B-B8D3-D010-F5A9D487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12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C80EBB-F6F1-3E90-9921-7E4F1EDECF75}"/>
              </a:ext>
            </a:extLst>
          </p:cNvPr>
          <p:cNvSpPr txBox="1"/>
          <p:nvPr/>
        </p:nvSpPr>
        <p:spPr>
          <a:xfrm>
            <a:off x="3981332" y="277789"/>
            <a:ext cx="388782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600" dirty="0">
                <a:solidFill>
                  <a:srgbClr val="000000"/>
                </a:solidFill>
                <a:latin typeface="Canva Sans Bold"/>
              </a:rPr>
              <a:t>Explainability</a:t>
            </a:r>
            <a:endParaRPr lang="en-US" sz="4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1251E-7E59-E9A4-84D4-A981C74E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540" r="50656" b="1"/>
          <a:stretch/>
        </p:blipFill>
        <p:spPr>
          <a:xfrm>
            <a:off x="1350659" y="1170781"/>
            <a:ext cx="4238535" cy="43646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B04F81-A199-162F-9072-909957025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846" y="1170781"/>
            <a:ext cx="4462481" cy="40383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EED28D-88B2-5295-95B3-EEDEB6DACF78}"/>
              </a:ext>
            </a:extLst>
          </p:cNvPr>
          <p:cNvSpPr txBox="1"/>
          <p:nvPr/>
        </p:nvSpPr>
        <p:spPr>
          <a:xfrm>
            <a:off x="2756452" y="5711687"/>
            <a:ext cx="610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8 – Explanations at  region level, image level &amp; class level</a:t>
            </a:r>
          </a:p>
        </p:txBody>
      </p:sp>
    </p:spTree>
    <p:extLst>
      <p:ext uri="{BB962C8B-B14F-4D97-AF65-F5344CB8AC3E}">
        <p14:creationId xmlns:p14="http://schemas.microsoft.com/office/powerpoint/2010/main" val="724029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61C8-5F7B-B8D3-D010-F5A9D487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13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C80EBB-F6F1-3E90-9921-7E4F1EDECF75}"/>
              </a:ext>
            </a:extLst>
          </p:cNvPr>
          <p:cNvSpPr txBox="1"/>
          <p:nvPr/>
        </p:nvSpPr>
        <p:spPr>
          <a:xfrm>
            <a:off x="3640561" y="105512"/>
            <a:ext cx="491087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600" dirty="0">
                <a:solidFill>
                  <a:srgbClr val="000000"/>
                </a:solidFill>
                <a:latin typeface="Canva Sans Bold"/>
              </a:rPr>
              <a:t>Influence Scores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725420-AC5C-00DE-951F-3DEA46E6C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910134"/>
            <a:ext cx="7772400" cy="522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00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9A672C5-F6E4-79AD-7B32-355CF4057726}"/>
              </a:ext>
            </a:extLst>
          </p:cNvPr>
          <p:cNvGrpSpPr/>
          <p:nvPr/>
        </p:nvGrpSpPr>
        <p:grpSpPr>
          <a:xfrm>
            <a:off x="-13253" y="6165803"/>
            <a:ext cx="3073252" cy="694360"/>
            <a:chOff x="0" y="76186"/>
            <a:chExt cx="1209363" cy="187566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D6E8404-8300-FCB3-0F88-0BFA67046BF5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9C05C931-C629-A08C-109E-D3DB04E8AF65}"/>
                </a:ext>
              </a:extLst>
            </p:cNvPr>
            <p:cNvSpPr txBox="1"/>
            <p:nvPr/>
          </p:nvSpPr>
          <p:spPr>
            <a:xfrm>
              <a:off x="5215" y="76420"/>
              <a:ext cx="1204148" cy="179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567" dirty="0">
                  <a:solidFill>
                    <a:srgbClr val="000000"/>
                  </a:solidFill>
                  <a:latin typeface="Canva Sans Bold"/>
                </a:rPr>
                <a:t>Introduction</a:t>
              </a:r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A17BB610-8050-D126-6AAE-3FAB244ABEDD}"/>
              </a:ext>
            </a:extLst>
          </p:cNvPr>
          <p:cNvGrpSpPr/>
          <p:nvPr/>
        </p:nvGrpSpPr>
        <p:grpSpPr>
          <a:xfrm>
            <a:off x="3044795" y="6165801"/>
            <a:ext cx="3060000" cy="694360"/>
            <a:chOff x="0" y="76186"/>
            <a:chExt cx="1204148" cy="187566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8EDED6B-4A54-9C8E-806C-A7AB911E0AD3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53032331-CF2A-A2BF-E9BE-0662C7EBA8C4}"/>
                </a:ext>
              </a:extLst>
            </p:cNvPr>
            <p:cNvSpPr txBox="1"/>
            <p:nvPr/>
          </p:nvSpPr>
          <p:spPr>
            <a:xfrm>
              <a:off x="11198" y="79766"/>
              <a:ext cx="1184875" cy="179895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Proposed Model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C09A1B73-62BE-BC89-70FF-9B0B937E05D0}"/>
              </a:ext>
            </a:extLst>
          </p:cNvPr>
          <p:cNvGrpSpPr/>
          <p:nvPr/>
        </p:nvGrpSpPr>
        <p:grpSpPr>
          <a:xfrm>
            <a:off x="6097528" y="6165800"/>
            <a:ext cx="3060000" cy="694360"/>
            <a:chOff x="0" y="76186"/>
            <a:chExt cx="1204148" cy="187566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25A1ECF2-D0B4-3FAA-8CBE-242E3FC97359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31FE57D-DB50-F8F8-ECF0-0EC1FDE4A8AF}"/>
                </a:ext>
              </a:extLst>
            </p:cNvPr>
            <p:cNvSpPr txBox="1"/>
            <p:nvPr/>
          </p:nvSpPr>
          <p:spPr>
            <a:xfrm>
              <a:off x="8075" y="80000"/>
              <a:ext cx="1186796" cy="179661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Experiments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73F4254-8C51-E833-9E7D-D890E2F70458}"/>
              </a:ext>
            </a:extLst>
          </p:cNvPr>
          <p:cNvGrpSpPr/>
          <p:nvPr/>
        </p:nvGrpSpPr>
        <p:grpSpPr>
          <a:xfrm>
            <a:off x="9150262" y="6165801"/>
            <a:ext cx="3060000" cy="694360"/>
            <a:chOff x="0" y="76186"/>
            <a:chExt cx="1204148" cy="187566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B9464F5-FD2C-05B6-4CD4-C2772008B521}"/>
                </a:ext>
              </a:extLst>
            </p:cNvPr>
            <p:cNvSpPr/>
            <p:nvPr/>
          </p:nvSpPr>
          <p:spPr>
            <a:xfrm>
              <a:off x="0" y="76186"/>
              <a:ext cx="1204148" cy="187566"/>
            </a:xfrm>
            <a:custGeom>
              <a:avLst/>
              <a:gdLst/>
              <a:ahLst/>
              <a:cxnLst/>
              <a:rect l="l" t="t" r="r" b="b"/>
              <a:pathLst>
                <a:path w="1204148" h="187606">
                  <a:moveTo>
                    <a:pt x="0" y="0"/>
                  </a:moveTo>
                  <a:lnTo>
                    <a:pt x="1204148" y="0"/>
                  </a:lnTo>
                  <a:lnTo>
                    <a:pt x="1204148" y="187606"/>
                  </a:lnTo>
                  <a:lnTo>
                    <a:pt x="0" y="1876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8E9B77B5-E3A2-E2C5-DE84-804DE48C8576}"/>
                </a:ext>
              </a:extLst>
            </p:cNvPr>
            <p:cNvSpPr txBox="1"/>
            <p:nvPr/>
          </p:nvSpPr>
          <p:spPr>
            <a:xfrm>
              <a:off x="8074" y="80000"/>
              <a:ext cx="1188888" cy="179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4"/>
                </a:lnSpc>
              </a:pPr>
              <a:r>
                <a:rPr lang="en-US" sz="2800" dirty="0">
                  <a:solidFill>
                    <a:srgbClr val="000000"/>
                  </a:solidFill>
                  <a:latin typeface="Canva Sans Bold"/>
                </a:rPr>
                <a:t>Conclusion</a:t>
              </a:r>
              <a:endParaRPr lang="en-US" sz="2567" dirty="0">
                <a:solidFill>
                  <a:srgbClr val="000000"/>
                </a:solidFill>
                <a:latin typeface="Canva Sans Bold"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61C8-5F7B-B8D3-D010-F5A9D487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27" y="6435862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14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C80EBB-F6F1-3E90-9921-7E4F1EDECF75}"/>
              </a:ext>
            </a:extLst>
          </p:cNvPr>
          <p:cNvSpPr txBox="1"/>
          <p:nvPr/>
        </p:nvSpPr>
        <p:spPr>
          <a:xfrm>
            <a:off x="3981332" y="397057"/>
            <a:ext cx="388782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600" dirty="0">
                <a:solidFill>
                  <a:srgbClr val="000000"/>
                </a:solidFill>
                <a:latin typeface="Canva Sans Bold"/>
              </a:rPr>
              <a:t>Conclusion</a:t>
            </a:r>
            <a:endParaRPr lang="en-US" sz="4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5A3231-F29F-9CB4-F086-A1C434BBE631}"/>
              </a:ext>
            </a:extLst>
          </p:cNvPr>
          <p:cNvSpPr txBox="1"/>
          <p:nvPr/>
        </p:nvSpPr>
        <p:spPr>
          <a:xfrm>
            <a:off x="927927" y="1789044"/>
            <a:ext cx="959429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We have tackled a previously overlooked aspect of the intersection between </a:t>
            </a:r>
            <a:r>
              <a:rPr lang="en-US" sz="2600" dirty="0">
                <a:solidFill>
                  <a:srgbClr val="FF0000"/>
                </a:solidFill>
              </a:rPr>
              <a:t>GenAI </a:t>
            </a:r>
            <a:r>
              <a:rPr lang="en-US" sz="2600" dirty="0"/>
              <a:t>and</a:t>
            </a:r>
            <a:r>
              <a:rPr lang="en-US" sz="2600" dirty="0">
                <a:solidFill>
                  <a:srgbClr val="FF0000"/>
                </a:solidFill>
              </a:rPr>
              <a:t> xAI</a:t>
            </a:r>
            <a:r>
              <a:rPr lang="en-US" sz="2600" dirty="0"/>
              <a:t>: the lack of </a:t>
            </a:r>
            <a:r>
              <a:rPr lang="en-US" sz="2600" dirty="0">
                <a:solidFill>
                  <a:srgbClr val="FF0000"/>
                </a:solidFill>
              </a:rPr>
              <a:t>explainability</a:t>
            </a:r>
            <a:r>
              <a:rPr lang="en-US" sz="2600" dirty="0"/>
              <a:t> in models that generate new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We introduced a new </a:t>
            </a:r>
            <a:r>
              <a:rPr lang="en-US" sz="2600" dirty="0">
                <a:solidFill>
                  <a:srgbClr val="FF0000"/>
                </a:solidFill>
              </a:rPr>
              <a:t>active</a:t>
            </a:r>
            <a:r>
              <a:rPr lang="en-US" sz="2600" dirty="0"/>
              <a:t> approach for explainability, </a:t>
            </a:r>
            <a:r>
              <a:rPr lang="en-US" sz="2600" dirty="0">
                <a:solidFill>
                  <a:srgbClr val="FF0000"/>
                </a:solidFill>
              </a:rPr>
              <a:t>EDIPR</a:t>
            </a:r>
            <a:r>
              <a:rPr lang="en-US" sz="2600" dirty="0"/>
              <a:t>, which is specifically designed to explain </a:t>
            </a:r>
            <a:r>
              <a:rPr lang="en-US" sz="2600" dirty="0">
                <a:solidFill>
                  <a:srgbClr val="FF0000"/>
                </a:solidFill>
              </a:rPr>
              <a:t>face</a:t>
            </a:r>
            <a:r>
              <a:rPr lang="en-US" sz="2600" dirty="0"/>
              <a:t> images created by a </a:t>
            </a:r>
            <a:r>
              <a:rPr lang="en-US" sz="2600" dirty="0">
                <a:solidFill>
                  <a:srgbClr val="FF0000"/>
                </a:solidFill>
              </a:rPr>
              <a:t>diffusion</a:t>
            </a:r>
            <a:r>
              <a:rPr lang="en-US" sz="2600" dirty="0"/>
              <a:t>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We proposed two scores – Normalized Influence Score (NIS) and the class-Normalized Influence Score (cNIS) for explainability.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499373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51200" y="1295400"/>
            <a:ext cx="5445720" cy="29321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>
                <a:solidFill>
                  <a:srgbClr val="000000"/>
                </a:solidFill>
                <a:latin typeface="Canva Sans Bold"/>
              </a:rPr>
              <a:t>Thank you!</a:t>
            </a:r>
            <a:endParaRPr lang="en-US" sz="6400" dirty="0">
              <a:solidFill>
                <a:srgbClr val="000000"/>
              </a:solidFill>
              <a:latin typeface="Canva Sans Bold"/>
            </a:endParaRPr>
          </a:p>
          <a:p>
            <a:pPr algn="ctr">
              <a:lnSpc>
                <a:spcPts val="7680"/>
              </a:lnSpc>
            </a:pPr>
            <a:endParaRPr lang="en-US" sz="6400" dirty="0">
              <a:solidFill>
                <a:srgbClr val="000000"/>
              </a:solidFill>
              <a:latin typeface="Canva Sans Bold"/>
            </a:endParaRPr>
          </a:p>
          <a:p>
            <a:pPr algn="ctr">
              <a:lnSpc>
                <a:spcPts val="7680"/>
              </a:lnSpc>
              <a:spcBef>
                <a:spcPct val="0"/>
              </a:spcBef>
            </a:pPr>
            <a:r>
              <a:rPr lang="en-US" sz="6400" dirty="0">
                <a:solidFill>
                  <a:srgbClr val="000000"/>
                </a:solidFill>
                <a:latin typeface="Canva Sans Bold"/>
              </a:rPr>
              <a:t>Q&amp;A</a:t>
            </a:r>
          </a:p>
        </p:txBody>
      </p:sp>
      <p:pic>
        <p:nvPicPr>
          <p:cNvPr id="6" name="Picture 5" descr="A black and blue logo&#10;&#10;Description automatically generated">
            <a:extLst>
              <a:ext uri="{FF2B5EF4-FFF2-40B4-BE49-F238E27FC236}">
                <a16:creationId xmlns:a16="http://schemas.microsoft.com/office/drawing/2014/main" id="{70DDE54E-04E7-4D1F-901E-0EF52B51B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537" y="5207001"/>
            <a:ext cx="3676926" cy="94932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6226BC-A42D-12E6-8CAE-93DA7AED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731" y="6462366"/>
            <a:ext cx="2743200" cy="365125"/>
          </a:xfrm>
        </p:spPr>
        <p:txBody>
          <a:bodyPr/>
          <a:lstStyle/>
          <a:p>
            <a:fld id="{ABD39697-445C-5345-9B8B-DB9988CAA513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12030</TotalTime>
  <Words>421</Words>
  <Application>Microsoft Macintosh PowerPoint</Application>
  <PresentationFormat>Widescreen</PresentationFormat>
  <Paragraphs>161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Canva Sans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ATOTE, BHUSHAN (PGR)</dc:creator>
  <cp:lastModifiedBy>ATOTE, BHUSHAN (PGR)</cp:lastModifiedBy>
  <cp:revision>10</cp:revision>
  <dcterms:created xsi:type="dcterms:W3CDTF">2024-09-10T13:01:01Z</dcterms:created>
  <dcterms:modified xsi:type="dcterms:W3CDTF">2026-10-25T18:27:03Z</dcterms:modified>
</cp:coreProperties>
</file>