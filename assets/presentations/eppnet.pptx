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5"/>
  </p:notesMasterIdLst>
  <p:sldIdLst>
    <p:sldId id="257" r:id="rId2"/>
    <p:sldId id="259" r:id="rId3"/>
    <p:sldId id="272" r:id="rId4"/>
    <p:sldId id="281" r:id="rId5"/>
    <p:sldId id="273" r:id="rId6"/>
    <p:sldId id="274" r:id="rId7"/>
    <p:sldId id="275" r:id="rId8"/>
    <p:sldId id="278" r:id="rId9"/>
    <p:sldId id="276" r:id="rId10"/>
    <p:sldId id="279" r:id="rId11"/>
    <p:sldId id="277" r:id="rId12"/>
    <p:sldId id="280" r:id="rId13"/>
    <p:sldId id="271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292"/>
    <p:restoredTop sz="94509"/>
  </p:normalViewPr>
  <p:slideViewPr>
    <p:cSldViewPr snapToGrid="0">
      <p:cViewPr varScale="1">
        <p:scale>
          <a:sx n="127" d="100"/>
          <a:sy n="127" d="100"/>
        </p:scale>
        <p:origin x="32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412498-3F78-3B45-A6BA-78DB3C0CB060}" type="datetimeFigureOut">
              <a:rPr lang="en-US" smtClean="0"/>
              <a:t>10/25/26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1F9B0F-D4AF-8B42-81C2-D295596EFE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38010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6841F0-9F17-09A8-6CFF-0558F4093E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F24215-9F0E-0C34-06A5-DD8D451227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8AA1EE-37A1-97FF-6F68-4D0663D102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F9145-D1A1-4149-A22E-0D8B9766AB75}" type="datetime1">
              <a:rPr lang="en-GB" smtClean="0"/>
              <a:t>25/10/2026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45A28D-A092-4FE6-1CDC-A01268CD41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1A5FAA-B69B-B235-BB12-26B94BDB2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39697-445C-5345-9B8B-DB9988CAA5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9910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F81409-4456-B8FD-1FDE-0B5ED876CB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C9CB08-314B-0056-1D0D-9C3067A07A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86A310-4734-902A-685B-9C29F8AC92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E31C4-239C-5940-BFC5-6FC2B0048760}" type="datetime1">
              <a:rPr lang="en-GB" smtClean="0"/>
              <a:t>25/10/2026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D89470-553E-8AA1-89DD-56EC5225D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1F9BA4-E122-0647-C25A-955F6D740F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39697-445C-5345-9B8B-DB9988CAA5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98750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57E0A-E87D-3286-0331-EE57618686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562CB4-946D-F555-AEAF-CD668569EC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C5B514-2E65-BE3E-63A5-C140AD165A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35EF2-9C88-584A-ABE4-DD03F527E4AF}" type="datetime1">
              <a:rPr lang="en-GB" smtClean="0"/>
              <a:t>25/10/2026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BB558F-5E1C-3643-6FBE-53D2B5BCBC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C98D65-AA9E-9751-9021-5A96F0B80A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39697-445C-5345-9B8B-DB9988CAA5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8970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834808-3A71-3CB7-0B54-92BADF1136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1212BA-7703-95D3-8B01-B796A3E09E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8FE43E-AB2A-741F-BAA9-D195CEF334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2DC241-82F9-623D-13CD-D340C8D71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12D9A-9F2B-FC43-B5C4-DFE6F2E670A0}" type="datetime1">
              <a:rPr lang="en-GB" smtClean="0"/>
              <a:t>25/10/2026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43AEC4-1449-CD9F-147C-EAFB652F4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68D682-85FB-F3A1-2A44-49B2EE4295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39697-445C-5345-9B8B-DB9988CAA5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37336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11BE6A-2F4F-9F32-1EAF-F3EABC027F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CE50C5-F5CD-BD84-F901-676999D561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5FC123-AC79-C74D-776F-7CCF36C78B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3650DC-704C-EC5F-B058-AC5DA3B322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3F61DB-0EC4-9E44-2DC7-BF398E779A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4AEDCA9-79CD-2192-8B35-045388E934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42833-D52E-8443-BBCE-D99CBC6DEA15}" type="datetime1">
              <a:rPr lang="en-GB" smtClean="0"/>
              <a:t>25/10/2026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9016DB3-B204-A59F-E3F1-B68435842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75F07A0-040B-D8D4-3DD1-3CEEDAB3C5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39697-445C-5345-9B8B-DB9988CAA5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7672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BD9326-B6A7-F051-8CEE-AFF949F8EA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8977B56-D270-25FE-3AD0-C0766E899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DACBD-C97C-FC40-AD8B-D2BB6594FAEE}" type="datetime1">
              <a:rPr lang="en-GB" smtClean="0"/>
              <a:t>25/10/2026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84CB70-B4AD-05F8-1B38-2F1BD0526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5E0F8F-DC8A-11AD-615D-823BB6C79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39697-445C-5345-9B8B-DB9988CAA5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96286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8E1FD6B-CF41-2C4E-B061-27914268D3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11829-49EE-6B47-9A8F-68EEC0DD5635}" type="datetime1">
              <a:rPr lang="en-GB" smtClean="0"/>
              <a:t>25/10/2026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75BB8EB-DDC9-A89F-8102-F91BA7804F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C3DF5F-56E6-39FC-3804-CF567A9B98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39697-445C-5345-9B8B-DB9988CAA5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35225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02C4CF-F744-7D02-4508-BA0045FD33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461D4D-A4A0-9E1B-F9B3-75301DF76F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BCF909-2150-BA7C-1460-0D52F62D49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CD696E-99C9-5FC5-746C-932F126D17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FB565-A07D-324B-9815-2300D57D6014}" type="datetime1">
              <a:rPr lang="en-GB" smtClean="0"/>
              <a:t>25/10/2026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03FBCD-66EB-BF02-4788-1E9157FD95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54F696-7FAE-3E05-816C-53CF6282B4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39697-445C-5345-9B8B-DB9988CAA5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36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06A2A0-EDBD-0370-77D2-DCDDB779AF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ADBA078-0F39-F449-4077-A270513F68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C27370-25EE-F270-7BF1-6352898D97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B11666-1144-CAB2-5485-C9807FDDC3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1241E-B364-3043-AEA3-34F6D6BF53E5}" type="datetime1">
              <a:rPr lang="en-GB" smtClean="0"/>
              <a:t>25/10/2026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3E48CF-AC1D-0433-DF51-75FF30FEAB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53F8AD-8EF4-CF78-1C34-C1856335C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39697-445C-5345-9B8B-DB9988CAA5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0505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1F1297-6831-1CC7-866C-1F58D7075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3A6F85-B061-B16D-4B79-41F0D0218B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D533F4-DB62-57C2-B990-74088514EE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62C25-3BA8-AD43-AC6D-B7941BB89693}" type="datetime1">
              <a:rPr lang="en-GB" smtClean="0"/>
              <a:t>25/10/2026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0ADCE6-7194-5A87-4F86-A90E3FD222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FB75DE-9CAD-B1B0-E843-F664A1378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39697-445C-5345-9B8B-DB9988CAA5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6315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D257C3E-D359-85E8-E39D-DA045A4188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13416A-444E-C426-39FC-D2EF0E69BA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EE6CC7-A866-EDCC-F0EF-D0EED5F9B3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5B70D-A270-7545-B9BE-69DECB607E88}" type="datetime1">
              <a:rPr lang="en-GB" smtClean="0"/>
              <a:t>25/10/2026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6E4F1E-2289-EE91-F0B6-37F52B52AF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37E3E4-860E-B21F-A086-4594DB082A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39697-445C-5345-9B8B-DB9988CAA5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83740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1722BFF-AF84-548C-04A6-0D064B6479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F74E2C-361C-CA93-C83E-99CFE997A8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CD4C17-66AC-584F-B470-8BE2381F7A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C741E2-4E0C-1E48-965C-F064808A5FF0}" type="datetime1">
              <a:rPr lang="en-GB" smtClean="0"/>
              <a:t>25/10/2026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F8498C-9AC5-A57B-9594-87DDDEE18E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BBB647-0948-90F2-99F7-F6F603F338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D39697-445C-5345-9B8B-DB9988CAA5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8042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4C38D9D-8B06-5105-BCA3-CE6D54D72B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6555" y="1846606"/>
            <a:ext cx="9978887" cy="5011394"/>
          </a:xfrm>
        </p:spPr>
        <p:txBody>
          <a:bodyPr>
            <a:normAutofit fontScale="92500"/>
          </a:bodyPr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Paper ID: 1810 </a:t>
            </a:r>
          </a:p>
          <a:p>
            <a:r>
              <a:rPr lang="en-GB" sz="3600" b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Enhanced Prototypical Part Network (EPPNet) </a:t>
            </a:r>
          </a:p>
          <a:p>
            <a:r>
              <a:rPr lang="en-GB" sz="3600" b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for explainable image classification via prototypes</a:t>
            </a:r>
          </a:p>
          <a:p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Bhushan Atote, 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Victor Sanchez</a:t>
            </a:r>
          </a:p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Department of Computer Science, </a:t>
            </a:r>
          </a:p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The University of Warwick, UK</a:t>
            </a:r>
            <a:endParaRPr lang="en-GB" b="1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Picture 8" descr="A black and blue logo&#10;&#10;Description automatically generated">
            <a:extLst>
              <a:ext uri="{FF2B5EF4-FFF2-40B4-BE49-F238E27FC236}">
                <a16:creationId xmlns:a16="http://schemas.microsoft.com/office/drawing/2014/main" id="{D742FAB2-6B6A-9C8E-0CC0-6A20AB3B5A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6610" y="0"/>
            <a:ext cx="5515389" cy="1423991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18066032-28F9-2A5F-6D4A-D3C89194C5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062177" cy="1846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03117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85800" y="721167"/>
            <a:ext cx="3513930" cy="846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400"/>
              </a:lnSpc>
              <a:spcBef>
                <a:spcPct val="0"/>
              </a:spcBef>
            </a:pPr>
            <a:r>
              <a:rPr lang="en-US" sz="6000" b="1" dirty="0">
                <a:solidFill>
                  <a:srgbClr val="000000"/>
                </a:solidFill>
              </a:rPr>
              <a:t>Outline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751443" y="721167"/>
            <a:ext cx="5950226" cy="56630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32582" lvl="1" indent="-266291"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</a:rPr>
              <a:t>Introduction</a:t>
            </a:r>
          </a:p>
          <a:p>
            <a:pPr marL="777283" lvl="2" indent="-259094">
              <a:buFont typeface="Arial"/>
              <a:buChar char="⚬"/>
            </a:pPr>
            <a:r>
              <a:rPr lang="en-US" sz="2400" dirty="0">
                <a:solidFill>
                  <a:srgbClr val="000000"/>
                </a:solidFill>
              </a:rPr>
              <a:t>XAI Methods</a:t>
            </a:r>
          </a:p>
          <a:p>
            <a:pPr marL="777283" lvl="2" indent="-259094">
              <a:buFont typeface="Arial"/>
              <a:buChar char="⚬"/>
            </a:pPr>
            <a:r>
              <a:rPr lang="en-US" sz="2400" dirty="0">
                <a:solidFill>
                  <a:srgbClr val="000000"/>
                </a:solidFill>
              </a:rPr>
              <a:t>Prototype – Driven Explanations </a:t>
            </a:r>
          </a:p>
          <a:p>
            <a:pPr marL="518189" lvl="2"/>
            <a:endParaRPr lang="en-US" sz="2400" dirty="0">
              <a:solidFill>
                <a:srgbClr val="000000"/>
              </a:solidFill>
            </a:endParaRPr>
          </a:p>
          <a:p>
            <a:pPr marL="532582" lvl="1" indent="-266291"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</a:rPr>
              <a:t>Proposed Architecture</a:t>
            </a:r>
          </a:p>
          <a:p>
            <a:pPr marL="777283" lvl="2" indent="-259094">
              <a:buFont typeface="Arial"/>
              <a:buChar char="⚬"/>
            </a:pPr>
            <a:r>
              <a:rPr lang="en-US" sz="2400" dirty="0">
                <a:solidFill>
                  <a:srgbClr val="000000"/>
                </a:solidFill>
              </a:rPr>
              <a:t>Mean – Cluster loss</a:t>
            </a:r>
          </a:p>
          <a:p>
            <a:pPr marL="777283" lvl="2" indent="-259094">
              <a:buFont typeface="Arial"/>
              <a:buChar char="⚬"/>
            </a:pPr>
            <a:r>
              <a:rPr lang="en-US" sz="2400" dirty="0">
                <a:solidFill>
                  <a:srgbClr val="000000"/>
                </a:solidFill>
              </a:rPr>
              <a:t>Faithfulness score</a:t>
            </a:r>
          </a:p>
          <a:p>
            <a:pPr marL="518189" lvl="2"/>
            <a:endParaRPr lang="en-US" sz="2400" dirty="0">
              <a:solidFill>
                <a:srgbClr val="000000"/>
              </a:solidFill>
            </a:endParaRPr>
          </a:p>
          <a:p>
            <a:pPr marL="532582" lvl="1" indent="-266291"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</a:rPr>
              <a:t>Experiments</a:t>
            </a:r>
          </a:p>
          <a:p>
            <a:pPr marL="777283" lvl="2" indent="-259094">
              <a:buFont typeface="Arial"/>
              <a:buChar char="⚬"/>
            </a:pPr>
            <a:r>
              <a:rPr lang="en-US" sz="2400" dirty="0">
                <a:solidFill>
                  <a:srgbClr val="000000"/>
                </a:solidFill>
              </a:rPr>
              <a:t>Implementation Details</a:t>
            </a:r>
          </a:p>
          <a:p>
            <a:pPr marL="777283" lvl="2" indent="-259094">
              <a:buFont typeface="Arial"/>
              <a:buChar char="⚬"/>
            </a:pPr>
            <a:r>
              <a:rPr lang="en-US" sz="2400" dirty="0">
                <a:solidFill>
                  <a:srgbClr val="000000"/>
                </a:solidFill>
              </a:rPr>
              <a:t>Explanability</a:t>
            </a:r>
          </a:p>
          <a:p>
            <a:pPr marL="777283" lvl="2" indent="-259094">
              <a:buFont typeface="Arial"/>
              <a:buChar char="⚬"/>
            </a:pPr>
            <a:r>
              <a:rPr lang="en-US" sz="2400" dirty="0">
                <a:solidFill>
                  <a:srgbClr val="000000"/>
                </a:solidFill>
              </a:rPr>
              <a:t>Faithfulness score</a:t>
            </a:r>
          </a:p>
          <a:p>
            <a:pPr marL="518189" lvl="2"/>
            <a:endParaRPr lang="en-US" sz="2400" dirty="0">
              <a:solidFill>
                <a:srgbClr val="000000"/>
              </a:solidFill>
            </a:endParaRPr>
          </a:p>
          <a:p>
            <a:pPr marL="532582" lvl="1" indent="-266291"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</a:rPr>
              <a:t>Conclusion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A2699E-08A7-59E0-ED91-1843F37008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05731" y="6475618"/>
            <a:ext cx="2743200" cy="365125"/>
          </a:xfrm>
        </p:spPr>
        <p:txBody>
          <a:bodyPr/>
          <a:lstStyle/>
          <a:p>
            <a:fld id="{ABD39697-445C-5345-9B8B-DB9988CAA513}" type="slidenum">
              <a:rPr lang="en-US" smtClean="0"/>
              <a:t>2</a:t>
            </a:fld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7">
            <a:extLst>
              <a:ext uri="{FF2B5EF4-FFF2-40B4-BE49-F238E27FC236}">
                <a16:creationId xmlns:a16="http://schemas.microsoft.com/office/drawing/2014/main" id="{89A672C5-F6E4-79AD-7B32-355CF4057726}"/>
              </a:ext>
            </a:extLst>
          </p:cNvPr>
          <p:cNvGrpSpPr/>
          <p:nvPr/>
        </p:nvGrpSpPr>
        <p:grpSpPr>
          <a:xfrm>
            <a:off x="-13253" y="6165803"/>
            <a:ext cx="3060000" cy="694360"/>
            <a:chOff x="0" y="76186"/>
            <a:chExt cx="1204148" cy="187566"/>
          </a:xfrm>
        </p:grpSpPr>
        <p:sp>
          <p:nvSpPr>
            <p:cNvPr id="5" name="Freeform 8">
              <a:extLst>
                <a:ext uri="{FF2B5EF4-FFF2-40B4-BE49-F238E27FC236}">
                  <a16:creationId xmlns:a16="http://schemas.microsoft.com/office/drawing/2014/main" id="{0D6E8404-8300-FCB3-0F88-0BFA67046BF5}"/>
                </a:ext>
              </a:extLst>
            </p:cNvPr>
            <p:cNvSpPr/>
            <p:nvPr/>
          </p:nvSpPr>
          <p:spPr>
            <a:xfrm>
              <a:off x="0" y="76186"/>
              <a:ext cx="1204148" cy="187566"/>
            </a:xfrm>
            <a:custGeom>
              <a:avLst/>
              <a:gdLst/>
              <a:ahLst/>
              <a:cxnLst/>
              <a:rect l="l" t="t" r="r" b="b"/>
              <a:pathLst>
                <a:path w="1204148" h="187606">
                  <a:moveTo>
                    <a:pt x="0" y="0"/>
                  </a:moveTo>
                  <a:lnTo>
                    <a:pt x="1204148" y="0"/>
                  </a:lnTo>
                  <a:lnTo>
                    <a:pt x="1204148" y="187606"/>
                  </a:lnTo>
                  <a:lnTo>
                    <a:pt x="0" y="187606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9">
              <a:extLst>
                <a:ext uri="{FF2B5EF4-FFF2-40B4-BE49-F238E27FC236}">
                  <a16:creationId xmlns:a16="http://schemas.microsoft.com/office/drawing/2014/main" id="{9C05C931-C629-A08C-109E-D3DB04E8AF65}"/>
                </a:ext>
              </a:extLst>
            </p:cNvPr>
            <p:cNvSpPr txBox="1"/>
            <p:nvPr/>
          </p:nvSpPr>
          <p:spPr>
            <a:xfrm>
              <a:off x="10430" y="80000"/>
              <a:ext cx="1185556" cy="179661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94"/>
                </a:lnSpc>
              </a:pPr>
              <a:r>
                <a:rPr lang="en-US" sz="2567" dirty="0">
                  <a:solidFill>
                    <a:srgbClr val="000000"/>
                  </a:solidFill>
                  <a:latin typeface="Canva Sans Bold"/>
                </a:rPr>
                <a:t>Introduction</a:t>
              </a:r>
            </a:p>
          </p:txBody>
        </p:sp>
      </p:grpSp>
      <p:grpSp>
        <p:nvGrpSpPr>
          <p:cNvPr id="16" name="Group 7">
            <a:extLst>
              <a:ext uri="{FF2B5EF4-FFF2-40B4-BE49-F238E27FC236}">
                <a16:creationId xmlns:a16="http://schemas.microsoft.com/office/drawing/2014/main" id="{A17BB610-8050-D126-6AAE-3FAB244ABEDD}"/>
              </a:ext>
            </a:extLst>
          </p:cNvPr>
          <p:cNvGrpSpPr/>
          <p:nvPr/>
        </p:nvGrpSpPr>
        <p:grpSpPr>
          <a:xfrm>
            <a:off x="3044795" y="6140161"/>
            <a:ext cx="3060000" cy="720000"/>
            <a:chOff x="0" y="69260"/>
            <a:chExt cx="1204148" cy="194492"/>
          </a:xfrm>
        </p:grpSpPr>
        <p:sp>
          <p:nvSpPr>
            <p:cNvPr id="17" name="Freeform 8">
              <a:extLst>
                <a:ext uri="{FF2B5EF4-FFF2-40B4-BE49-F238E27FC236}">
                  <a16:creationId xmlns:a16="http://schemas.microsoft.com/office/drawing/2014/main" id="{58EDED6B-4A54-9C8E-806C-A7AB911E0AD3}"/>
                </a:ext>
              </a:extLst>
            </p:cNvPr>
            <p:cNvSpPr/>
            <p:nvPr/>
          </p:nvSpPr>
          <p:spPr>
            <a:xfrm>
              <a:off x="0" y="76186"/>
              <a:ext cx="1204148" cy="187566"/>
            </a:xfrm>
            <a:custGeom>
              <a:avLst/>
              <a:gdLst/>
              <a:ahLst/>
              <a:cxnLst/>
              <a:rect l="l" t="t" r="r" b="b"/>
              <a:pathLst>
                <a:path w="1204148" h="187606">
                  <a:moveTo>
                    <a:pt x="0" y="0"/>
                  </a:moveTo>
                  <a:lnTo>
                    <a:pt x="1204148" y="0"/>
                  </a:lnTo>
                  <a:lnTo>
                    <a:pt x="1204148" y="187606"/>
                  </a:lnTo>
                  <a:lnTo>
                    <a:pt x="0" y="187606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9">
              <a:extLst>
                <a:ext uri="{FF2B5EF4-FFF2-40B4-BE49-F238E27FC236}">
                  <a16:creationId xmlns:a16="http://schemas.microsoft.com/office/drawing/2014/main" id="{53032331-CF2A-A2BF-E9BE-0662C7EBA8C4}"/>
                </a:ext>
              </a:extLst>
            </p:cNvPr>
            <p:cNvSpPr txBox="1"/>
            <p:nvPr/>
          </p:nvSpPr>
          <p:spPr>
            <a:xfrm>
              <a:off x="94983" y="69260"/>
              <a:ext cx="1038509" cy="1796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94"/>
                </a:lnSpc>
              </a:pPr>
              <a:r>
                <a:rPr lang="en-US" sz="2800" dirty="0">
                  <a:solidFill>
                    <a:srgbClr val="000000"/>
                  </a:solidFill>
                  <a:latin typeface="Canva Sans Bold"/>
                </a:rPr>
                <a:t>Proposed Model</a:t>
              </a:r>
              <a:endParaRPr lang="en-US" sz="2567" dirty="0">
                <a:solidFill>
                  <a:srgbClr val="000000"/>
                </a:solidFill>
                <a:latin typeface="Canva Sans Bold"/>
              </a:endParaRPr>
            </a:p>
          </p:txBody>
        </p:sp>
      </p:grpSp>
      <p:grpSp>
        <p:nvGrpSpPr>
          <p:cNvPr id="19" name="Group 7">
            <a:extLst>
              <a:ext uri="{FF2B5EF4-FFF2-40B4-BE49-F238E27FC236}">
                <a16:creationId xmlns:a16="http://schemas.microsoft.com/office/drawing/2014/main" id="{C09A1B73-62BE-BC89-70FF-9B0B937E05D0}"/>
              </a:ext>
            </a:extLst>
          </p:cNvPr>
          <p:cNvGrpSpPr/>
          <p:nvPr/>
        </p:nvGrpSpPr>
        <p:grpSpPr>
          <a:xfrm>
            <a:off x="6097528" y="6140160"/>
            <a:ext cx="3060000" cy="720000"/>
            <a:chOff x="0" y="69260"/>
            <a:chExt cx="1204148" cy="194492"/>
          </a:xfrm>
        </p:grpSpPr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25A1ECF2-D0B4-3FAA-8CBE-242E3FC97359}"/>
                </a:ext>
              </a:extLst>
            </p:cNvPr>
            <p:cNvSpPr/>
            <p:nvPr/>
          </p:nvSpPr>
          <p:spPr>
            <a:xfrm>
              <a:off x="0" y="76186"/>
              <a:ext cx="1204148" cy="187566"/>
            </a:xfrm>
            <a:custGeom>
              <a:avLst/>
              <a:gdLst/>
              <a:ahLst/>
              <a:cxnLst/>
              <a:rect l="l" t="t" r="r" b="b"/>
              <a:pathLst>
                <a:path w="1204148" h="187606">
                  <a:moveTo>
                    <a:pt x="0" y="0"/>
                  </a:moveTo>
                  <a:lnTo>
                    <a:pt x="1204148" y="0"/>
                  </a:lnTo>
                  <a:lnTo>
                    <a:pt x="1204148" y="187606"/>
                  </a:lnTo>
                  <a:lnTo>
                    <a:pt x="0" y="187606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9">
              <a:extLst>
                <a:ext uri="{FF2B5EF4-FFF2-40B4-BE49-F238E27FC236}">
                  <a16:creationId xmlns:a16="http://schemas.microsoft.com/office/drawing/2014/main" id="{831FE57D-DB50-F8F8-ECF0-0EC1FDE4A8AF}"/>
                </a:ext>
              </a:extLst>
            </p:cNvPr>
            <p:cNvSpPr txBox="1"/>
            <p:nvPr/>
          </p:nvSpPr>
          <p:spPr>
            <a:xfrm>
              <a:off x="94983" y="69260"/>
              <a:ext cx="1038509" cy="1796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94"/>
                </a:lnSpc>
              </a:pPr>
              <a:r>
                <a:rPr lang="en-US" sz="2800" dirty="0">
                  <a:solidFill>
                    <a:srgbClr val="000000"/>
                  </a:solidFill>
                  <a:latin typeface="Canva Sans Bold"/>
                </a:rPr>
                <a:t>Experiments</a:t>
              </a:r>
            </a:p>
          </p:txBody>
        </p:sp>
      </p:grpSp>
      <p:grpSp>
        <p:nvGrpSpPr>
          <p:cNvPr id="22" name="Group 7">
            <a:extLst>
              <a:ext uri="{FF2B5EF4-FFF2-40B4-BE49-F238E27FC236}">
                <a16:creationId xmlns:a16="http://schemas.microsoft.com/office/drawing/2014/main" id="{373F4254-8C51-E833-9E7D-D890E2F70458}"/>
              </a:ext>
            </a:extLst>
          </p:cNvPr>
          <p:cNvGrpSpPr/>
          <p:nvPr/>
        </p:nvGrpSpPr>
        <p:grpSpPr>
          <a:xfrm>
            <a:off x="9150262" y="6140161"/>
            <a:ext cx="3060000" cy="720000"/>
            <a:chOff x="0" y="69260"/>
            <a:chExt cx="1204148" cy="194492"/>
          </a:xfrm>
        </p:grpSpPr>
        <p:sp>
          <p:nvSpPr>
            <p:cNvPr id="23" name="Freeform 8">
              <a:extLst>
                <a:ext uri="{FF2B5EF4-FFF2-40B4-BE49-F238E27FC236}">
                  <a16:creationId xmlns:a16="http://schemas.microsoft.com/office/drawing/2014/main" id="{AB9464F5-FD2C-05B6-4CD4-C2772008B521}"/>
                </a:ext>
              </a:extLst>
            </p:cNvPr>
            <p:cNvSpPr/>
            <p:nvPr/>
          </p:nvSpPr>
          <p:spPr>
            <a:xfrm>
              <a:off x="0" y="76186"/>
              <a:ext cx="1204148" cy="187566"/>
            </a:xfrm>
            <a:custGeom>
              <a:avLst/>
              <a:gdLst/>
              <a:ahLst/>
              <a:cxnLst/>
              <a:rect l="l" t="t" r="r" b="b"/>
              <a:pathLst>
                <a:path w="1204148" h="187606">
                  <a:moveTo>
                    <a:pt x="0" y="0"/>
                  </a:moveTo>
                  <a:lnTo>
                    <a:pt x="1204148" y="0"/>
                  </a:lnTo>
                  <a:lnTo>
                    <a:pt x="1204148" y="187606"/>
                  </a:lnTo>
                  <a:lnTo>
                    <a:pt x="0" y="187606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9">
              <a:extLst>
                <a:ext uri="{FF2B5EF4-FFF2-40B4-BE49-F238E27FC236}">
                  <a16:creationId xmlns:a16="http://schemas.microsoft.com/office/drawing/2014/main" id="{8E9B77B5-E3A2-E2C5-DE84-804DE48C8576}"/>
                </a:ext>
              </a:extLst>
            </p:cNvPr>
            <p:cNvSpPr txBox="1"/>
            <p:nvPr/>
          </p:nvSpPr>
          <p:spPr>
            <a:xfrm>
              <a:off x="94983" y="69260"/>
              <a:ext cx="1038509" cy="1796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94"/>
                </a:lnSpc>
              </a:pPr>
              <a:r>
                <a:rPr lang="en-US" sz="2800" dirty="0">
                  <a:solidFill>
                    <a:srgbClr val="000000"/>
                  </a:solidFill>
                  <a:latin typeface="Canva Sans Bold"/>
                </a:rPr>
                <a:t>Conclusion</a:t>
              </a:r>
              <a:endParaRPr lang="en-US" sz="2567" dirty="0">
                <a:solidFill>
                  <a:srgbClr val="000000"/>
                </a:solidFill>
                <a:latin typeface="Canva Sans Bold"/>
              </a:endParaRPr>
            </a:p>
          </p:txBody>
        </p:sp>
      </p:grp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947455-4C77-1175-B8CE-B23E18876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92480" y="6435862"/>
            <a:ext cx="2743200" cy="365125"/>
          </a:xfrm>
        </p:spPr>
        <p:txBody>
          <a:bodyPr/>
          <a:lstStyle/>
          <a:p>
            <a:fld id="{ABD39697-445C-5345-9B8B-DB9988CAA513}" type="slidenum">
              <a:rPr lang="en-US" smtClean="0"/>
              <a:t>3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0AD3F3B-1783-4953-C9C3-5536658C1FF3}"/>
              </a:ext>
            </a:extLst>
          </p:cNvPr>
          <p:cNvSpPr txBox="1"/>
          <p:nvPr/>
        </p:nvSpPr>
        <p:spPr>
          <a:xfrm>
            <a:off x="3981332" y="277789"/>
            <a:ext cx="388782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000000"/>
                </a:solidFill>
              </a:rPr>
              <a:t>Introduction</a:t>
            </a:r>
            <a:endParaRPr lang="en-US" sz="28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754034A-42F1-AF1D-7052-14B8B2B8772A}"/>
              </a:ext>
            </a:extLst>
          </p:cNvPr>
          <p:cNvSpPr/>
          <p:nvPr/>
        </p:nvSpPr>
        <p:spPr>
          <a:xfrm>
            <a:off x="4831766" y="1485721"/>
            <a:ext cx="288930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GB" sz="2400" b="1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75CF13F-93A3-E3C9-4984-5714149E0764}"/>
              </a:ext>
            </a:extLst>
          </p:cNvPr>
          <p:cNvCxnSpPr/>
          <p:nvPr/>
        </p:nvCxnSpPr>
        <p:spPr>
          <a:xfrm>
            <a:off x="5126724" y="1610656"/>
            <a:ext cx="1254642" cy="0"/>
          </a:xfrm>
          <a:prstGeom prst="line">
            <a:avLst/>
          </a:prstGeom>
          <a:ln>
            <a:solidFill>
              <a:schemeClr val="tx1"/>
            </a:solidFill>
          </a:ln>
          <a:effectLst>
            <a:outerShdw dist="20000" sx="1000" sy="1000" rotWithShape="0">
              <a:srgbClr val="000000"/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49E20CBE-D63E-A69E-5B78-6BF461F25B49}"/>
              </a:ext>
            </a:extLst>
          </p:cNvPr>
          <p:cNvSpPr txBox="1"/>
          <p:nvPr/>
        </p:nvSpPr>
        <p:spPr>
          <a:xfrm>
            <a:off x="5052290" y="1334218"/>
            <a:ext cx="15514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cs typeface="Times New Roman" panose="02020603050405020304" pitchFamily="18" charset="0"/>
              </a:rPr>
              <a:t>Passive approach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81BEC1C-3C64-F823-1C51-C49A1A969697}"/>
              </a:ext>
            </a:extLst>
          </p:cNvPr>
          <p:cNvCxnSpPr>
            <a:cxnSpLocks/>
          </p:cNvCxnSpPr>
          <p:nvPr/>
        </p:nvCxnSpPr>
        <p:spPr>
          <a:xfrm>
            <a:off x="5724056" y="1610096"/>
            <a:ext cx="0" cy="180000"/>
          </a:xfrm>
          <a:prstGeom prst="line">
            <a:avLst/>
          </a:prstGeom>
          <a:ln w="12700">
            <a:solidFill>
              <a:schemeClr val="tx1"/>
            </a:solidFill>
          </a:ln>
          <a:effectLst>
            <a:outerShdw dist="20000" sx="1000" sy="1000" rotWithShape="0">
              <a:srgbClr val="000000"/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6E404D1-6C35-A2EC-1BAA-3059524C3909}"/>
              </a:ext>
            </a:extLst>
          </p:cNvPr>
          <p:cNvCxnSpPr>
            <a:cxnSpLocks/>
          </p:cNvCxnSpPr>
          <p:nvPr/>
        </p:nvCxnSpPr>
        <p:spPr>
          <a:xfrm>
            <a:off x="4207123" y="1783762"/>
            <a:ext cx="3240000" cy="0"/>
          </a:xfrm>
          <a:prstGeom prst="line">
            <a:avLst/>
          </a:prstGeom>
          <a:ln w="12700">
            <a:solidFill>
              <a:schemeClr val="tx1"/>
            </a:solidFill>
          </a:ln>
          <a:effectLst>
            <a:outerShdw dist="20000" sx="1000" sy="1000" rotWithShape="0">
              <a:srgbClr val="000000"/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0FDB9A7-6898-6E6E-55C4-A23BB95673F4}"/>
              </a:ext>
            </a:extLst>
          </p:cNvPr>
          <p:cNvCxnSpPr>
            <a:cxnSpLocks/>
          </p:cNvCxnSpPr>
          <p:nvPr/>
        </p:nvCxnSpPr>
        <p:spPr>
          <a:xfrm>
            <a:off x="4207137" y="1783761"/>
            <a:ext cx="0" cy="108000"/>
          </a:xfrm>
          <a:prstGeom prst="line">
            <a:avLst/>
          </a:prstGeom>
          <a:ln w="12700">
            <a:solidFill>
              <a:schemeClr val="tx1"/>
            </a:solidFill>
          </a:ln>
          <a:effectLst>
            <a:outerShdw dist="20000" sx="1000" sy="1000" rotWithShape="0">
              <a:srgbClr val="000000"/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8E6924D-9A72-9D27-6F14-5AC803FB1EE2}"/>
              </a:ext>
            </a:extLst>
          </p:cNvPr>
          <p:cNvCxnSpPr>
            <a:cxnSpLocks/>
          </p:cNvCxnSpPr>
          <p:nvPr/>
        </p:nvCxnSpPr>
        <p:spPr>
          <a:xfrm>
            <a:off x="7442996" y="1787308"/>
            <a:ext cx="0" cy="108000"/>
          </a:xfrm>
          <a:prstGeom prst="line">
            <a:avLst/>
          </a:prstGeom>
          <a:ln w="12700">
            <a:solidFill>
              <a:schemeClr val="tx1"/>
            </a:solidFill>
          </a:ln>
          <a:effectLst>
            <a:outerShdw dist="20000" sx="1000" sy="1000" rotWithShape="0">
              <a:srgbClr val="000000"/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94943A0-FA9A-3A2A-6BB9-944C23F43AD4}"/>
              </a:ext>
            </a:extLst>
          </p:cNvPr>
          <p:cNvCxnSpPr>
            <a:cxnSpLocks/>
          </p:cNvCxnSpPr>
          <p:nvPr/>
        </p:nvCxnSpPr>
        <p:spPr>
          <a:xfrm>
            <a:off x="3625894" y="2255134"/>
            <a:ext cx="1116000" cy="0"/>
          </a:xfrm>
          <a:prstGeom prst="line">
            <a:avLst/>
          </a:prstGeom>
          <a:ln w="12700">
            <a:solidFill>
              <a:schemeClr val="tx1"/>
            </a:solidFill>
          </a:ln>
          <a:effectLst>
            <a:outerShdw dist="20000" sx="1000" sy="1000" rotWithShape="0">
              <a:srgbClr val="000000"/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F3A11E8F-B31A-30BE-C1F0-D197D80941F8}"/>
              </a:ext>
            </a:extLst>
          </p:cNvPr>
          <p:cNvSpPr txBox="1"/>
          <p:nvPr/>
        </p:nvSpPr>
        <p:spPr>
          <a:xfrm>
            <a:off x="3512990" y="1879639"/>
            <a:ext cx="14580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cs typeface="Times New Roman" panose="02020603050405020304" pitchFamily="18" charset="0"/>
              </a:rPr>
              <a:t>Feature Analysis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4CAF418-27D4-7CF0-5ECE-1248C88E3352}"/>
              </a:ext>
            </a:extLst>
          </p:cNvPr>
          <p:cNvSpPr txBox="1"/>
          <p:nvPr/>
        </p:nvSpPr>
        <p:spPr>
          <a:xfrm>
            <a:off x="6245392" y="1918433"/>
            <a:ext cx="249138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cs typeface="Times New Roman" panose="02020603050405020304" pitchFamily="18" charset="0"/>
              </a:rPr>
              <a:t>Explanation of DNN decisions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1E5C3000-55BD-FBBA-3E6E-1D9618F7E637}"/>
              </a:ext>
            </a:extLst>
          </p:cNvPr>
          <p:cNvCxnSpPr>
            <a:cxnSpLocks/>
          </p:cNvCxnSpPr>
          <p:nvPr/>
        </p:nvCxnSpPr>
        <p:spPr>
          <a:xfrm>
            <a:off x="4221319" y="2148823"/>
            <a:ext cx="0" cy="108000"/>
          </a:xfrm>
          <a:prstGeom prst="line">
            <a:avLst/>
          </a:prstGeom>
          <a:ln w="12700">
            <a:solidFill>
              <a:schemeClr val="tx1"/>
            </a:solidFill>
          </a:ln>
          <a:effectLst>
            <a:outerShdw dist="20000" sx="1000" sy="1000" rotWithShape="0">
              <a:srgbClr val="000000"/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A030BE45-9FA7-1266-C53E-6769C502651D}"/>
              </a:ext>
            </a:extLst>
          </p:cNvPr>
          <p:cNvCxnSpPr>
            <a:cxnSpLocks/>
          </p:cNvCxnSpPr>
          <p:nvPr/>
        </p:nvCxnSpPr>
        <p:spPr>
          <a:xfrm>
            <a:off x="7467801" y="2152360"/>
            <a:ext cx="0" cy="108000"/>
          </a:xfrm>
          <a:prstGeom prst="line">
            <a:avLst/>
          </a:prstGeom>
          <a:ln w="12700">
            <a:solidFill>
              <a:schemeClr val="tx1"/>
            </a:solidFill>
          </a:ln>
          <a:effectLst>
            <a:outerShdw dist="20000" sx="1000" sy="1000" rotWithShape="0">
              <a:srgbClr val="000000"/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19DB6FFE-6498-3529-DD52-2D1E3637FD59}"/>
              </a:ext>
            </a:extLst>
          </p:cNvPr>
          <p:cNvCxnSpPr>
            <a:cxnSpLocks/>
          </p:cNvCxnSpPr>
          <p:nvPr/>
        </p:nvCxnSpPr>
        <p:spPr>
          <a:xfrm>
            <a:off x="6308832" y="2258672"/>
            <a:ext cx="2124000" cy="0"/>
          </a:xfrm>
          <a:prstGeom prst="line">
            <a:avLst/>
          </a:prstGeom>
          <a:ln w="12700">
            <a:solidFill>
              <a:schemeClr val="tx1"/>
            </a:solidFill>
          </a:ln>
          <a:effectLst>
            <a:outerShdw dist="20000" sx="1000" sy="1000" rotWithShape="0">
              <a:srgbClr val="000000"/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7FF8AA41-460F-6748-2015-F8FAA3D1D756}"/>
              </a:ext>
            </a:extLst>
          </p:cNvPr>
          <p:cNvCxnSpPr>
            <a:cxnSpLocks/>
          </p:cNvCxnSpPr>
          <p:nvPr/>
        </p:nvCxnSpPr>
        <p:spPr>
          <a:xfrm>
            <a:off x="8921975" y="2752716"/>
            <a:ext cx="0" cy="108000"/>
          </a:xfrm>
          <a:prstGeom prst="line">
            <a:avLst/>
          </a:prstGeom>
          <a:ln w="12700">
            <a:solidFill>
              <a:schemeClr val="tx1"/>
            </a:solidFill>
          </a:ln>
          <a:effectLst>
            <a:outerShdw dist="20000" sx="1000" sy="1000" rotWithShape="0">
              <a:srgbClr val="000000"/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E86A2A27-1A35-DAB7-F7C1-3ADA5712973A}"/>
              </a:ext>
            </a:extLst>
          </p:cNvPr>
          <p:cNvCxnSpPr>
            <a:cxnSpLocks/>
          </p:cNvCxnSpPr>
          <p:nvPr/>
        </p:nvCxnSpPr>
        <p:spPr>
          <a:xfrm>
            <a:off x="3631355" y="2256256"/>
            <a:ext cx="0" cy="108000"/>
          </a:xfrm>
          <a:prstGeom prst="line">
            <a:avLst/>
          </a:prstGeom>
          <a:ln w="12700">
            <a:solidFill>
              <a:schemeClr val="tx1"/>
            </a:solidFill>
          </a:ln>
          <a:effectLst>
            <a:outerShdw dist="20000" sx="1000" sy="1000" rotWithShape="0">
              <a:srgbClr val="000000"/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4838DCDD-F54B-25D9-7CD6-4F9CB03490C8}"/>
              </a:ext>
            </a:extLst>
          </p:cNvPr>
          <p:cNvCxnSpPr>
            <a:cxnSpLocks/>
          </p:cNvCxnSpPr>
          <p:nvPr/>
        </p:nvCxnSpPr>
        <p:spPr>
          <a:xfrm>
            <a:off x="8431828" y="2255140"/>
            <a:ext cx="0" cy="108000"/>
          </a:xfrm>
          <a:prstGeom prst="line">
            <a:avLst/>
          </a:prstGeom>
          <a:ln w="12700">
            <a:solidFill>
              <a:schemeClr val="tx1"/>
            </a:solidFill>
          </a:ln>
          <a:effectLst>
            <a:outerShdw dist="20000" sx="1000" sy="1000" rotWithShape="0">
              <a:srgbClr val="000000"/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55FBC1DB-6516-E5AF-ABB0-4C32EE91ADE6}"/>
              </a:ext>
            </a:extLst>
          </p:cNvPr>
          <p:cNvCxnSpPr>
            <a:cxnSpLocks/>
          </p:cNvCxnSpPr>
          <p:nvPr/>
        </p:nvCxnSpPr>
        <p:spPr>
          <a:xfrm>
            <a:off x="4749399" y="2251598"/>
            <a:ext cx="0" cy="108000"/>
          </a:xfrm>
          <a:prstGeom prst="line">
            <a:avLst/>
          </a:prstGeom>
          <a:ln w="12700">
            <a:solidFill>
              <a:schemeClr val="tx1"/>
            </a:solidFill>
          </a:ln>
          <a:effectLst>
            <a:outerShdw dist="20000" sx="1000" sy="1000" rotWithShape="0">
              <a:srgbClr val="000000"/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B1EF243F-57AC-C66F-C591-193A3B9253F8}"/>
              </a:ext>
            </a:extLst>
          </p:cNvPr>
          <p:cNvCxnSpPr>
            <a:cxnSpLocks/>
          </p:cNvCxnSpPr>
          <p:nvPr/>
        </p:nvCxnSpPr>
        <p:spPr>
          <a:xfrm>
            <a:off x="6305311" y="2255148"/>
            <a:ext cx="0" cy="108000"/>
          </a:xfrm>
          <a:prstGeom prst="line">
            <a:avLst/>
          </a:prstGeom>
          <a:ln w="12700">
            <a:solidFill>
              <a:schemeClr val="tx1"/>
            </a:solidFill>
          </a:ln>
          <a:effectLst>
            <a:outerShdw dist="20000" sx="1000" sy="1000" rotWithShape="0">
              <a:srgbClr val="000000"/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FC562B9E-5C32-6D95-29F6-112C281E4265}"/>
              </a:ext>
            </a:extLst>
          </p:cNvPr>
          <p:cNvSpPr txBox="1"/>
          <p:nvPr/>
        </p:nvSpPr>
        <p:spPr>
          <a:xfrm>
            <a:off x="3066696" y="2353487"/>
            <a:ext cx="112931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cs typeface="Times New Roman" panose="02020603050405020304" pitchFamily="18" charset="0"/>
              </a:rPr>
              <a:t>Feature </a:t>
            </a:r>
          </a:p>
          <a:p>
            <a:pPr algn="ctr"/>
            <a:r>
              <a:rPr lang="en-US" sz="1400" dirty="0">
                <a:cs typeface="Times New Roman" panose="02020603050405020304" pitchFamily="18" charset="0"/>
              </a:rPr>
              <a:t>Visualization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E299FA1-5C45-5967-DE14-3274758AB14E}"/>
              </a:ext>
            </a:extLst>
          </p:cNvPr>
          <p:cNvSpPr txBox="1"/>
          <p:nvPr/>
        </p:nvSpPr>
        <p:spPr>
          <a:xfrm>
            <a:off x="4184740" y="2353487"/>
            <a:ext cx="11293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cs typeface="Times New Roman" panose="02020603050405020304" pitchFamily="18" charset="0"/>
              </a:rPr>
              <a:t>Network</a:t>
            </a:r>
          </a:p>
          <a:p>
            <a:pPr algn="ctr"/>
            <a:r>
              <a:rPr lang="en-US" sz="1400" dirty="0">
                <a:cs typeface="Times New Roman" panose="02020603050405020304" pitchFamily="18" charset="0"/>
              </a:rPr>
              <a:t>Dissection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5C6EBF96-3818-B480-C3A9-21F08F0C0728}"/>
              </a:ext>
            </a:extLst>
          </p:cNvPr>
          <p:cNvCxnSpPr>
            <a:cxnSpLocks/>
          </p:cNvCxnSpPr>
          <p:nvPr/>
        </p:nvCxnSpPr>
        <p:spPr>
          <a:xfrm>
            <a:off x="3012753" y="2928531"/>
            <a:ext cx="1116000" cy="0"/>
          </a:xfrm>
          <a:prstGeom prst="line">
            <a:avLst/>
          </a:prstGeom>
          <a:ln w="12700">
            <a:solidFill>
              <a:schemeClr val="tx1"/>
            </a:solidFill>
          </a:ln>
          <a:effectLst>
            <a:outerShdw dist="20000" sx="1000" sy="1000" rotWithShape="0">
              <a:srgbClr val="000000"/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16AF8FA4-2E9F-EC5B-4AC9-042D86662553}"/>
              </a:ext>
            </a:extLst>
          </p:cNvPr>
          <p:cNvCxnSpPr>
            <a:cxnSpLocks/>
          </p:cNvCxnSpPr>
          <p:nvPr/>
        </p:nvCxnSpPr>
        <p:spPr>
          <a:xfrm>
            <a:off x="3586912" y="2822220"/>
            <a:ext cx="0" cy="108000"/>
          </a:xfrm>
          <a:prstGeom prst="line">
            <a:avLst/>
          </a:prstGeom>
          <a:ln w="12700">
            <a:solidFill>
              <a:schemeClr val="tx1"/>
            </a:solidFill>
          </a:ln>
          <a:effectLst>
            <a:outerShdw dist="20000" sx="1000" sy="1000" rotWithShape="0">
              <a:srgbClr val="000000"/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CBFE11CD-79CB-79D1-752B-1FB3DB121B3D}"/>
              </a:ext>
            </a:extLst>
          </p:cNvPr>
          <p:cNvCxnSpPr>
            <a:cxnSpLocks/>
          </p:cNvCxnSpPr>
          <p:nvPr/>
        </p:nvCxnSpPr>
        <p:spPr>
          <a:xfrm>
            <a:off x="3018214" y="2929653"/>
            <a:ext cx="0" cy="108000"/>
          </a:xfrm>
          <a:prstGeom prst="line">
            <a:avLst/>
          </a:prstGeom>
          <a:ln w="12700">
            <a:solidFill>
              <a:schemeClr val="tx1"/>
            </a:solidFill>
          </a:ln>
          <a:effectLst>
            <a:outerShdw dist="20000" sx="1000" sy="1000" rotWithShape="0">
              <a:srgbClr val="000000"/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2D9D87D8-60C9-AEA0-7250-2DA8489D53C3}"/>
              </a:ext>
            </a:extLst>
          </p:cNvPr>
          <p:cNvCxnSpPr>
            <a:cxnSpLocks/>
          </p:cNvCxnSpPr>
          <p:nvPr/>
        </p:nvCxnSpPr>
        <p:spPr>
          <a:xfrm>
            <a:off x="7481975" y="2761947"/>
            <a:ext cx="1440000" cy="0"/>
          </a:xfrm>
          <a:prstGeom prst="line">
            <a:avLst/>
          </a:prstGeom>
          <a:ln w="12700">
            <a:solidFill>
              <a:schemeClr val="tx1"/>
            </a:solidFill>
          </a:ln>
          <a:effectLst>
            <a:outerShdw dist="20000" sx="1000" sy="1000" rotWithShape="0">
              <a:srgbClr val="000000"/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3882510B-7913-8798-995D-DE6BEDC76430}"/>
              </a:ext>
            </a:extLst>
          </p:cNvPr>
          <p:cNvCxnSpPr>
            <a:cxnSpLocks/>
          </p:cNvCxnSpPr>
          <p:nvPr/>
        </p:nvCxnSpPr>
        <p:spPr>
          <a:xfrm>
            <a:off x="8258156" y="2655636"/>
            <a:ext cx="0" cy="108000"/>
          </a:xfrm>
          <a:prstGeom prst="line">
            <a:avLst/>
          </a:prstGeom>
          <a:ln w="12700">
            <a:solidFill>
              <a:schemeClr val="tx1"/>
            </a:solidFill>
          </a:ln>
          <a:effectLst>
            <a:outerShdw dist="20000" sx="1000" sy="1000" rotWithShape="0">
              <a:srgbClr val="000000"/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22F39234-C03C-7353-EA59-630668C9FC73}"/>
              </a:ext>
            </a:extLst>
          </p:cNvPr>
          <p:cNvCxnSpPr>
            <a:cxnSpLocks/>
          </p:cNvCxnSpPr>
          <p:nvPr/>
        </p:nvCxnSpPr>
        <p:spPr>
          <a:xfrm>
            <a:off x="7487436" y="2763069"/>
            <a:ext cx="0" cy="108000"/>
          </a:xfrm>
          <a:prstGeom prst="line">
            <a:avLst/>
          </a:prstGeom>
          <a:ln w="12700">
            <a:solidFill>
              <a:schemeClr val="tx1"/>
            </a:solidFill>
          </a:ln>
          <a:effectLst>
            <a:outerShdw dist="20000" sx="1000" sy="1000" rotWithShape="0">
              <a:srgbClr val="000000"/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9F4F3D42-EBA2-4F40-EAF2-D18500A94763}"/>
              </a:ext>
            </a:extLst>
          </p:cNvPr>
          <p:cNvCxnSpPr>
            <a:cxnSpLocks/>
          </p:cNvCxnSpPr>
          <p:nvPr/>
        </p:nvCxnSpPr>
        <p:spPr>
          <a:xfrm>
            <a:off x="4125619" y="2924994"/>
            <a:ext cx="0" cy="108000"/>
          </a:xfrm>
          <a:prstGeom prst="line">
            <a:avLst/>
          </a:prstGeom>
          <a:ln w="12700">
            <a:solidFill>
              <a:schemeClr val="tx1"/>
            </a:solidFill>
          </a:ln>
          <a:effectLst>
            <a:outerShdw dist="20000" sx="1000" sy="1000" rotWithShape="0">
              <a:srgbClr val="000000"/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DE882E31-D9D8-77BF-C825-7D50E14C1CA9}"/>
              </a:ext>
            </a:extLst>
          </p:cNvPr>
          <p:cNvSpPr txBox="1"/>
          <p:nvPr/>
        </p:nvSpPr>
        <p:spPr>
          <a:xfrm>
            <a:off x="2319737" y="3016247"/>
            <a:ext cx="13056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cs typeface="Times New Roman" panose="02020603050405020304" pitchFamily="18" charset="0"/>
              </a:rPr>
              <a:t>Deconvolution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FEF47D5-D625-32D7-02FF-9FCD38FBDD05}"/>
              </a:ext>
            </a:extLst>
          </p:cNvPr>
          <p:cNvSpPr txBox="1"/>
          <p:nvPr/>
        </p:nvSpPr>
        <p:spPr>
          <a:xfrm>
            <a:off x="3472791" y="2953525"/>
            <a:ext cx="13056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cs typeface="Times New Roman" panose="02020603050405020304" pitchFamily="18" charset="0"/>
              </a:rPr>
              <a:t>Activation</a:t>
            </a:r>
          </a:p>
          <a:p>
            <a:pPr algn="ctr"/>
            <a:r>
              <a:rPr lang="en-US" sz="1400" dirty="0">
                <a:cs typeface="Times New Roman" panose="02020603050405020304" pitchFamily="18" charset="0"/>
              </a:rPr>
              <a:t>Maximization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02A883A-478F-C557-FCB1-890968F892D8}"/>
              </a:ext>
            </a:extLst>
          </p:cNvPr>
          <p:cNvSpPr txBox="1"/>
          <p:nvPr/>
        </p:nvSpPr>
        <p:spPr>
          <a:xfrm>
            <a:off x="5696045" y="2315382"/>
            <a:ext cx="125553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cs typeface="Times New Roman" panose="02020603050405020304" pitchFamily="18" charset="0"/>
              </a:rPr>
              <a:t>Input Feature </a:t>
            </a:r>
          </a:p>
          <a:p>
            <a:pPr algn="ctr"/>
            <a:r>
              <a:rPr lang="en-US" sz="1400" dirty="0">
                <a:cs typeface="Times New Roman" panose="02020603050405020304" pitchFamily="18" charset="0"/>
              </a:rPr>
              <a:t>Attribution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C71D637-3857-5384-9291-0794B0BD7EDE}"/>
              </a:ext>
            </a:extLst>
          </p:cNvPr>
          <p:cNvSpPr txBox="1"/>
          <p:nvPr/>
        </p:nvSpPr>
        <p:spPr>
          <a:xfrm>
            <a:off x="7248396" y="2357916"/>
            <a:ext cx="24465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cs typeface="Times New Roman" panose="02020603050405020304" pitchFamily="18" charset="0"/>
              </a:rPr>
              <a:t>Concept – based Explanation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F56E83E-458D-1B87-8977-DFBACC8C0A2A}"/>
              </a:ext>
            </a:extLst>
          </p:cNvPr>
          <p:cNvSpPr txBox="1"/>
          <p:nvPr/>
        </p:nvSpPr>
        <p:spPr>
          <a:xfrm>
            <a:off x="6783147" y="2818653"/>
            <a:ext cx="11881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cs typeface="Times New Roman" panose="02020603050405020304" pitchFamily="18" charset="0"/>
              </a:rPr>
              <a:t>Visual </a:t>
            </a:r>
          </a:p>
          <a:p>
            <a:pPr algn="ctr"/>
            <a:r>
              <a:rPr lang="en-US" sz="1400" dirty="0">
                <a:cs typeface="Times New Roman" panose="02020603050405020304" pitchFamily="18" charset="0"/>
              </a:rPr>
              <a:t>Explanations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013D30D-0711-EA85-1799-0771CBF25E74}"/>
              </a:ext>
            </a:extLst>
          </p:cNvPr>
          <p:cNvSpPr txBox="1"/>
          <p:nvPr/>
        </p:nvSpPr>
        <p:spPr>
          <a:xfrm>
            <a:off x="8376505" y="2800929"/>
            <a:ext cx="11015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cs typeface="Times New Roman" panose="02020603050405020304" pitchFamily="18" charset="0"/>
              </a:rPr>
              <a:t>Linguistic</a:t>
            </a:r>
          </a:p>
          <a:p>
            <a:pPr algn="ctr"/>
            <a:r>
              <a:rPr lang="en-US" sz="1400" dirty="0">
                <a:cs typeface="Times New Roman" panose="02020603050405020304" pitchFamily="18" charset="0"/>
              </a:rPr>
              <a:t>Explanation</a:t>
            </a:r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AD891C81-51BE-1B30-A350-AF4712D02B0A}"/>
              </a:ext>
            </a:extLst>
          </p:cNvPr>
          <p:cNvCxnSpPr/>
          <p:nvPr/>
        </p:nvCxnSpPr>
        <p:spPr>
          <a:xfrm>
            <a:off x="5179892" y="4216914"/>
            <a:ext cx="1254642" cy="0"/>
          </a:xfrm>
          <a:prstGeom prst="line">
            <a:avLst/>
          </a:prstGeom>
          <a:ln>
            <a:solidFill>
              <a:schemeClr val="tx1"/>
            </a:solidFill>
          </a:ln>
          <a:effectLst>
            <a:outerShdw dist="20000" sx="1000" sy="1000" rotWithShape="0">
              <a:srgbClr val="000000"/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00F51A99-776D-3B31-FA7B-D3227EEDD1ED}"/>
              </a:ext>
            </a:extLst>
          </p:cNvPr>
          <p:cNvSpPr txBox="1"/>
          <p:nvPr/>
        </p:nvSpPr>
        <p:spPr>
          <a:xfrm>
            <a:off x="5126724" y="3940476"/>
            <a:ext cx="144206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cs typeface="Times New Roman" panose="02020603050405020304" pitchFamily="18" charset="0"/>
              </a:rPr>
              <a:t>Active approach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855B04C8-FD96-901B-C58A-40114C435E3C}"/>
              </a:ext>
            </a:extLst>
          </p:cNvPr>
          <p:cNvCxnSpPr>
            <a:cxnSpLocks/>
          </p:cNvCxnSpPr>
          <p:nvPr/>
        </p:nvCxnSpPr>
        <p:spPr>
          <a:xfrm>
            <a:off x="5777224" y="4216354"/>
            <a:ext cx="0" cy="180000"/>
          </a:xfrm>
          <a:prstGeom prst="line">
            <a:avLst/>
          </a:prstGeom>
          <a:ln w="12700">
            <a:solidFill>
              <a:schemeClr val="tx1"/>
            </a:solidFill>
          </a:ln>
          <a:effectLst>
            <a:outerShdw dist="20000" sx="1000" sy="1000" rotWithShape="0">
              <a:srgbClr val="000000"/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06E1E9A1-D348-9058-10CD-587C986FE98C}"/>
              </a:ext>
            </a:extLst>
          </p:cNvPr>
          <p:cNvCxnSpPr>
            <a:cxnSpLocks/>
          </p:cNvCxnSpPr>
          <p:nvPr/>
        </p:nvCxnSpPr>
        <p:spPr>
          <a:xfrm>
            <a:off x="4260290" y="4390020"/>
            <a:ext cx="3312000" cy="0"/>
          </a:xfrm>
          <a:prstGeom prst="line">
            <a:avLst/>
          </a:prstGeom>
          <a:ln w="12700">
            <a:solidFill>
              <a:schemeClr val="tx1"/>
            </a:solidFill>
          </a:ln>
          <a:effectLst>
            <a:outerShdw dist="20000" sx="1000" sy="1000" rotWithShape="0">
              <a:srgbClr val="000000"/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F9B7B10F-78E9-D431-F286-BE8AE22AC43A}"/>
              </a:ext>
            </a:extLst>
          </p:cNvPr>
          <p:cNvCxnSpPr>
            <a:cxnSpLocks/>
          </p:cNvCxnSpPr>
          <p:nvPr/>
        </p:nvCxnSpPr>
        <p:spPr>
          <a:xfrm>
            <a:off x="4260305" y="4390019"/>
            <a:ext cx="0" cy="108000"/>
          </a:xfrm>
          <a:prstGeom prst="line">
            <a:avLst/>
          </a:prstGeom>
          <a:ln w="12700">
            <a:solidFill>
              <a:schemeClr val="tx1"/>
            </a:solidFill>
          </a:ln>
          <a:effectLst>
            <a:outerShdw dist="20000" sx="1000" sy="1000" rotWithShape="0">
              <a:srgbClr val="000000"/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5C976423-B0BD-19D7-A771-FC8C35ED868E}"/>
              </a:ext>
            </a:extLst>
          </p:cNvPr>
          <p:cNvCxnSpPr>
            <a:cxnSpLocks/>
          </p:cNvCxnSpPr>
          <p:nvPr/>
        </p:nvCxnSpPr>
        <p:spPr>
          <a:xfrm>
            <a:off x="5848114" y="4393566"/>
            <a:ext cx="0" cy="108000"/>
          </a:xfrm>
          <a:prstGeom prst="line">
            <a:avLst/>
          </a:prstGeom>
          <a:ln w="12700">
            <a:solidFill>
              <a:schemeClr val="tx1"/>
            </a:solidFill>
          </a:ln>
          <a:effectLst>
            <a:outerShdw dist="20000" sx="1000" sy="1000" rotWithShape="0">
              <a:srgbClr val="000000"/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9B4CD7D2-EABE-3CA7-B86E-50017BE6174F}"/>
              </a:ext>
            </a:extLst>
          </p:cNvPr>
          <p:cNvSpPr txBox="1"/>
          <p:nvPr/>
        </p:nvSpPr>
        <p:spPr>
          <a:xfrm>
            <a:off x="3574392" y="4475264"/>
            <a:ext cx="13077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cs typeface="Times New Roman" panose="02020603050405020304" pitchFamily="18" charset="0"/>
              </a:rPr>
              <a:t>Regularization </a:t>
            </a:r>
          </a:p>
          <a:p>
            <a:pPr algn="ctr"/>
            <a:r>
              <a:rPr lang="en-US" sz="1400" dirty="0">
                <a:cs typeface="Times New Roman" panose="02020603050405020304" pitchFamily="18" charset="0"/>
              </a:rPr>
              <a:t>Technique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C94448D-DF6D-D382-AF4B-01E013A23E2F}"/>
              </a:ext>
            </a:extLst>
          </p:cNvPr>
          <p:cNvSpPr txBox="1"/>
          <p:nvPr/>
        </p:nvSpPr>
        <p:spPr>
          <a:xfrm>
            <a:off x="5049455" y="4482159"/>
            <a:ext cx="15319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cs typeface="Times New Roman" panose="02020603050405020304" pitchFamily="18" charset="0"/>
              </a:rPr>
              <a:t>Built-in Attention </a:t>
            </a:r>
          </a:p>
          <a:p>
            <a:pPr algn="ctr"/>
            <a:r>
              <a:rPr lang="en-US" sz="1400" dirty="0">
                <a:cs typeface="Times New Roman" panose="02020603050405020304" pitchFamily="18" charset="0"/>
              </a:rPr>
              <a:t>Mechanism</a:t>
            </a: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FAE54B0B-0FC7-CB70-7257-B940573AA791}"/>
              </a:ext>
            </a:extLst>
          </p:cNvPr>
          <p:cNvCxnSpPr>
            <a:cxnSpLocks/>
          </p:cNvCxnSpPr>
          <p:nvPr/>
        </p:nvCxnSpPr>
        <p:spPr>
          <a:xfrm>
            <a:off x="7572290" y="4398238"/>
            <a:ext cx="0" cy="108000"/>
          </a:xfrm>
          <a:prstGeom prst="line">
            <a:avLst/>
          </a:prstGeom>
          <a:ln w="12700">
            <a:solidFill>
              <a:schemeClr val="tx1"/>
            </a:solidFill>
          </a:ln>
          <a:effectLst>
            <a:outerShdw dist="20000" sx="1000" sy="1000" rotWithShape="0">
              <a:srgbClr val="000000"/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8A7AD1EB-982C-1AC2-9700-23EA12FBA2B5}"/>
              </a:ext>
            </a:extLst>
          </p:cNvPr>
          <p:cNvSpPr txBox="1"/>
          <p:nvPr/>
        </p:nvSpPr>
        <p:spPr>
          <a:xfrm>
            <a:off x="6759654" y="4475064"/>
            <a:ext cx="16061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cs typeface="Times New Roman" panose="02020603050405020304" pitchFamily="18" charset="0"/>
              </a:rPr>
              <a:t>Prototype – driven </a:t>
            </a:r>
          </a:p>
          <a:p>
            <a:pPr algn="ctr"/>
            <a:r>
              <a:rPr lang="en-US" sz="1400" dirty="0">
                <a:cs typeface="Times New Roman" panose="02020603050405020304" pitchFamily="18" charset="0"/>
              </a:rPr>
              <a:t>Explanation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0D05814-D061-99ED-3216-AFD4B348281F}"/>
              </a:ext>
            </a:extLst>
          </p:cNvPr>
          <p:cNvSpPr txBox="1"/>
          <p:nvPr/>
        </p:nvSpPr>
        <p:spPr>
          <a:xfrm>
            <a:off x="4136515" y="5453789"/>
            <a:ext cx="357745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Fig. 1 – Taxonomy of Explainable AI methods</a:t>
            </a:r>
          </a:p>
        </p:txBody>
      </p:sp>
    </p:spTree>
    <p:extLst>
      <p:ext uri="{BB962C8B-B14F-4D97-AF65-F5344CB8AC3E}">
        <p14:creationId xmlns:p14="http://schemas.microsoft.com/office/powerpoint/2010/main" val="23619038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671052-384A-B03D-24EB-C8C8B5CA6C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7">
            <a:extLst>
              <a:ext uri="{FF2B5EF4-FFF2-40B4-BE49-F238E27FC236}">
                <a16:creationId xmlns:a16="http://schemas.microsoft.com/office/drawing/2014/main" id="{770B549D-B7C4-B7DC-07DF-5CB8EE7C3BE4}"/>
              </a:ext>
            </a:extLst>
          </p:cNvPr>
          <p:cNvGrpSpPr/>
          <p:nvPr/>
        </p:nvGrpSpPr>
        <p:grpSpPr>
          <a:xfrm>
            <a:off x="-13253" y="6165803"/>
            <a:ext cx="3060000" cy="694360"/>
            <a:chOff x="0" y="76186"/>
            <a:chExt cx="1204148" cy="187566"/>
          </a:xfrm>
        </p:grpSpPr>
        <p:sp>
          <p:nvSpPr>
            <p:cNvPr id="5" name="Freeform 8">
              <a:extLst>
                <a:ext uri="{FF2B5EF4-FFF2-40B4-BE49-F238E27FC236}">
                  <a16:creationId xmlns:a16="http://schemas.microsoft.com/office/drawing/2014/main" id="{B6D680C2-E3FE-9D86-7D0B-16EC9BF862BA}"/>
                </a:ext>
              </a:extLst>
            </p:cNvPr>
            <p:cNvSpPr/>
            <p:nvPr/>
          </p:nvSpPr>
          <p:spPr>
            <a:xfrm>
              <a:off x="0" y="76186"/>
              <a:ext cx="1204148" cy="187566"/>
            </a:xfrm>
            <a:custGeom>
              <a:avLst/>
              <a:gdLst/>
              <a:ahLst/>
              <a:cxnLst/>
              <a:rect l="l" t="t" r="r" b="b"/>
              <a:pathLst>
                <a:path w="1204148" h="187606">
                  <a:moveTo>
                    <a:pt x="0" y="0"/>
                  </a:moveTo>
                  <a:lnTo>
                    <a:pt x="1204148" y="0"/>
                  </a:lnTo>
                  <a:lnTo>
                    <a:pt x="1204148" y="187606"/>
                  </a:lnTo>
                  <a:lnTo>
                    <a:pt x="0" y="187606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9">
              <a:extLst>
                <a:ext uri="{FF2B5EF4-FFF2-40B4-BE49-F238E27FC236}">
                  <a16:creationId xmlns:a16="http://schemas.microsoft.com/office/drawing/2014/main" id="{75334E01-6E75-89F2-2F74-CDE3E0B804CD}"/>
                </a:ext>
              </a:extLst>
            </p:cNvPr>
            <p:cNvSpPr txBox="1"/>
            <p:nvPr/>
          </p:nvSpPr>
          <p:spPr>
            <a:xfrm>
              <a:off x="10430" y="80000"/>
              <a:ext cx="1185556" cy="179661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94"/>
                </a:lnSpc>
              </a:pPr>
              <a:r>
                <a:rPr lang="en-US" sz="2567" dirty="0">
                  <a:solidFill>
                    <a:srgbClr val="000000"/>
                  </a:solidFill>
                  <a:latin typeface="Canva Sans Bold"/>
                </a:rPr>
                <a:t>Introduction</a:t>
              </a:r>
            </a:p>
          </p:txBody>
        </p:sp>
      </p:grpSp>
      <p:grpSp>
        <p:nvGrpSpPr>
          <p:cNvPr id="16" name="Group 7">
            <a:extLst>
              <a:ext uri="{FF2B5EF4-FFF2-40B4-BE49-F238E27FC236}">
                <a16:creationId xmlns:a16="http://schemas.microsoft.com/office/drawing/2014/main" id="{822C6205-3621-06B4-E547-485425D2D71A}"/>
              </a:ext>
            </a:extLst>
          </p:cNvPr>
          <p:cNvGrpSpPr/>
          <p:nvPr/>
        </p:nvGrpSpPr>
        <p:grpSpPr>
          <a:xfrm>
            <a:off x="3044795" y="6140161"/>
            <a:ext cx="3060000" cy="720000"/>
            <a:chOff x="0" y="69260"/>
            <a:chExt cx="1204148" cy="194492"/>
          </a:xfrm>
        </p:grpSpPr>
        <p:sp>
          <p:nvSpPr>
            <p:cNvPr id="17" name="Freeform 8">
              <a:extLst>
                <a:ext uri="{FF2B5EF4-FFF2-40B4-BE49-F238E27FC236}">
                  <a16:creationId xmlns:a16="http://schemas.microsoft.com/office/drawing/2014/main" id="{F29E265E-8E4A-D29E-E511-EA07F0AEEF7A}"/>
                </a:ext>
              </a:extLst>
            </p:cNvPr>
            <p:cNvSpPr/>
            <p:nvPr/>
          </p:nvSpPr>
          <p:spPr>
            <a:xfrm>
              <a:off x="0" y="76186"/>
              <a:ext cx="1204148" cy="187566"/>
            </a:xfrm>
            <a:custGeom>
              <a:avLst/>
              <a:gdLst/>
              <a:ahLst/>
              <a:cxnLst/>
              <a:rect l="l" t="t" r="r" b="b"/>
              <a:pathLst>
                <a:path w="1204148" h="187606">
                  <a:moveTo>
                    <a:pt x="0" y="0"/>
                  </a:moveTo>
                  <a:lnTo>
                    <a:pt x="1204148" y="0"/>
                  </a:lnTo>
                  <a:lnTo>
                    <a:pt x="1204148" y="187606"/>
                  </a:lnTo>
                  <a:lnTo>
                    <a:pt x="0" y="187606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9">
              <a:extLst>
                <a:ext uri="{FF2B5EF4-FFF2-40B4-BE49-F238E27FC236}">
                  <a16:creationId xmlns:a16="http://schemas.microsoft.com/office/drawing/2014/main" id="{9C14AAAF-783E-1064-AD0A-5DC82212AF43}"/>
                </a:ext>
              </a:extLst>
            </p:cNvPr>
            <p:cNvSpPr txBox="1"/>
            <p:nvPr/>
          </p:nvSpPr>
          <p:spPr>
            <a:xfrm>
              <a:off x="94983" y="69260"/>
              <a:ext cx="1038509" cy="1796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94"/>
                </a:lnSpc>
              </a:pPr>
              <a:r>
                <a:rPr lang="en-US" sz="2800" dirty="0">
                  <a:solidFill>
                    <a:srgbClr val="000000"/>
                  </a:solidFill>
                  <a:latin typeface="Canva Sans Bold"/>
                </a:rPr>
                <a:t>Proposed Model</a:t>
              </a:r>
              <a:endParaRPr lang="en-US" sz="2567" dirty="0">
                <a:solidFill>
                  <a:srgbClr val="000000"/>
                </a:solidFill>
                <a:latin typeface="Canva Sans Bold"/>
              </a:endParaRPr>
            </a:p>
          </p:txBody>
        </p:sp>
      </p:grpSp>
      <p:grpSp>
        <p:nvGrpSpPr>
          <p:cNvPr id="19" name="Group 7">
            <a:extLst>
              <a:ext uri="{FF2B5EF4-FFF2-40B4-BE49-F238E27FC236}">
                <a16:creationId xmlns:a16="http://schemas.microsoft.com/office/drawing/2014/main" id="{44028ADC-97FE-D7FA-25B6-E9B45FDCD1D6}"/>
              </a:ext>
            </a:extLst>
          </p:cNvPr>
          <p:cNvGrpSpPr/>
          <p:nvPr/>
        </p:nvGrpSpPr>
        <p:grpSpPr>
          <a:xfrm>
            <a:off x="6097528" y="6140160"/>
            <a:ext cx="3060000" cy="720000"/>
            <a:chOff x="0" y="69260"/>
            <a:chExt cx="1204148" cy="194492"/>
          </a:xfrm>
        </p:grpSpPr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E6F152E5-8BD7-38CD-6BA5-76521089B5D7}"/>
                </a:ext>
              </a:extLst>
            </p:cNvPr>
            <p:cNvSpPr/>
            <p:nvPr/>
          </p:nvSpPr>
          <p:spPr>
            <a:xfrm>
              <a:off x="0" y="76186"/>
              <a:ext cx="1204148" cy="187566"/>
            </a:xfrm>
            <a:custGeom>
              <a:avLst/>
              <a:gdLst/>
              <a:ahLst/>
              <a:cxnLst/>
              <a:rect l="l" t="t" r="r" b="b"/>
              <a:pathLst>
                <a:path w="1204148" h="187606">
                  <a:moveTo>
                    <a:pt x="0" y="0"/>
                  </a:moveTo>
                  <a:lnTo>
                    <a:pt x="1204148" y="0"/>
                  </a:lnTo>
                  <a:lnTo>
                    <a:pt x="1204148" y="187606"/>
                  </a:lnTo>
                  <a:lnTo>
                    <a:pt x="0" y="187606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9">
              <a:extLst>
                <a:ext uri="{FF2B5EF4-FFF2-40B4-BE49-F238E27FC236}">
                  <a16:creationId xmlns:a16="http://schemas.microsoft.com/office/drawing/2014/main" id="{B74D5867-648B-1CE4-BE14-F0E070175833}"/>
                </a:ext>
              </a:extLst>
            </p:cNvPr>
            <p:cNvSpPr txBox="1"/>
            <p:nvPr/>
          </p:nvSpPr>
          <p:spPr>
            <a:xfrm>
              <a:off x="94983" y="69260"/>
              <a:ext cx="1038509" cy="1796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94"/>
                </a:lnSpc>
              </a:pPr>
              <a:r>
                <a:rPr lang="en-US" sz="2800" dirty="0">
                  <a:solidFill>
                    <a:srgbClr val="000000"/>
                  </a:solidFill>
                  <a:latin typeface="Canva Sans Bold"/>
                </a:rPr>
                <a:t>Experiments</a:t>
              </a:r>
            </a:p>
          </p:txBody>
        </p:sp>
      </p:grpSp>
      <p:grpSp>
        <p:nvGrpSpPr>
          <p:cNvPr id="22" name="Group 7">
            <a:extLst>
              <a:ext uri="{FF2B5EF4-FFF2-40B4-BE49-F238E27FC236}">
                <a16:creationId xmlns:a16="http://schemas.microsoft.com/office/drawing/2014/main" id="{C76DE870-E241-23B4-7A86-E37459F2536E}"/>
              </a:ext>
            </a:extLst>
          </p:cNvPr>
          <p:cNvGrpSpPr/>
          <p:nvPr/>
        </p:nvGrpSpPr>
        <p:grpSpPr>
          <a:xfrm>
            <a:off x="9150262" y="6140161"/>
            <a:ext cx="3060000" cy="720000"/>
            <a:chOff x="0" y="69260"/>
            <a:chExt cx="1204148" cy="194492"/>
          </a:xfrm>
        </p:grpSpPr>
        <p:sp>
          <p:nvSpPr>
            <p:cNvPr id="23" name="Freeform 8">
              <a:extLst>
                <a:ext uri="{FF2B5EF4-FFF2-40B4-BE49-F238E27FC236}">
                  <a16:creationId xmlns:a16="http://schemas.microsoft.com/office/drawing/2014/main" id="{762E71A1-7021-BCD7-183E-FC45239DDCF3}"/>
                </a:ext>
              </a:extLst>
            </p:cNvPr>
            <p:cNvSpPr/>
            <p:nvPr/>
          </p:nvSpPr>
          <p:spPr>
            <a:xfrm>
              <a:off x="0" y="76186"/>
              <a:ext cx="1204148" cy="187566"/>
            </a:xfrm>
            <a:custGeom>
              <a:avLst/>
              <a:gdLst/>
              <a:ahLst/>
              <a:cxnLst/>
              <a:rect l="l" t="t" r="r" b="b"/>
              <a:pathLst>
                <a:path w="1204148" h="187606">
                  <a:moveTo>
                    <a:pt x="0" y="0"/>
                  </a:moveTo>
                  <a:lnTo>
                    <a:pt x="1204148" y="0"/>
                  </a:lnTo>
                  <a:lnTo>
                    <a:pt x="1204148" y="187606"/>
                  </a:lnTo>
                  <a:lnTo>
                    <a:pt x="0" y="187606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9">
              <a:extLst>
                <a:ext uri="{FF2B5EF4-FFF2-40B4-BE49-F238E27FC236}">
                  <a16:creationId xmlns:a16="http://schemas.microsoft.com/office/drawing/2014/main" id="{6E7BD8EC-FB2C-EC4A-DDFB-537575545246}"/>
                </a:ext>
              </a:extLst>
            </p:cNvPr>
            <p:cNvSpPr txBox="1"/>
            <p:nvPr/>
          </p:nvSpPr>
          <p:spPr>
            <a:xfrm>
              <a:off x="94983" y="69260"/>
              <a:ext cx="1038509" cy="1796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94"/>
                </a:lnSpc>
              </a:pPr>
              <a:r>
                <a:rPr lang="en-US" sz="2800" dirty="0">
                  <a:solidFill>
                    <a:srgbClr val="000000"/>
                  </a:solidFill>
                  <a:latin typeface="Canva Sans Bold"/>
                </a:rPr>
                <a:t>Conclusion</a:t>
              </a:r>
              <a:endParaRPr lang="en-US" sz="2567" dirty="0">
                <a:solidFill>
                  <a:srgbClr val="000000"/>
                </a:solidFill>
                <a:latin typeface="Canva Sans Bold"/>
              </a:endParaRPr>
            </a:p>
          </p:txBody>
        </p:sp>
      </p:grp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C8B807-F749-EC34-0423-C481ACECF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92480" y="6435862"/>
            <a:ext cx="2743200" cy="365125"/>
          </a:xfrm>
        </p:spPr>
        <p:txBody>
          <a:bodyPr/>
          <a:lstStyle/>
          <a:p>
            <a:fld id="{ABD39697-445C-5345-9B8B-DB9988CAA513}" type="slidenum">
              <a:rPr lang="en-US" smtClean="0"/>
              <a:t>4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F96D818-3BCA-827A-A32E-D56E183203DA}"/>
              </a:ext>
            </a:extLst>
          </p:cNvPr>
          <p:cNvSpPr txBox="1"/>
          <p:nvPr/>
        </p:nvSpPr>
        <p:spPr>
          <a:xfrm>
            <a:off x="3981332" y="277789"/>
            <a:ext cx="388782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solidFill>
                  <a:srgbClr val="000000"/>
                </a:solidFill>
              </a:rPr>
              <a:t>Prototype – Driven Explanations</a:t>
            </a:r>
            <a:endParaRPr lang="en-US" sz="28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0C5FF96-AAA5-F41C-4ED3-BA146899EF3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3719"/>
          <a:stretch/>
        </p:blipFill>
        <p:spPr>
          <a:xfrm>
            <a:off x="13252" y="1501957"/>
            <a:ext cx="11259421" cy="343834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03EFE9D-FDEE-E910-C230-20DE3B9434E2}"/>
              </a:ext>
            </a:extLst>
          </p:cNvPr>
          <p:cNvSpPr txBox="1"/>
          <p:nvPr/>
        </p:nvSpPr>
        <p:spPr>
          <a:xfrm>
            <a:off x="4462822" y="5278620"/>
            <a:ext cx="29248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Fig. 1 Prototype driven explanations</a:t>
            </a:r>
          </a:p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8486557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7">
            <a:extLst>
              <a:ext uri="{FF2B5EF4-FFF2-40B4-BE49-F238E27FC236}">
                <a16:creationId xmlns:a16="http://schemas.microsoft.com/office/drawing/2014/main" id="{89A672C5-F6E4-79AD-7B32-355CF4057726}"/>
              </a:ext>
            </a:extLst>
          </p:cNvPr>
          <p:cNvGrpSpPr/>
          <p:nvPr/>
        </p:nvGrpSpPr>
        <p:grpSpPr>
          <a:xfrm>
            <a:off x="-13253" y="6165803"/>
            <a:ext cx="3060976" cy="694360"/>
            <a:chOff x="0" y="76186"/>
            <a:chExt cx="1204532" cy="187566"/>
          </a:xfrm>
        </p:grpSpPr>
        <p:sp>
          <p:nvSpPr>
            <p:cNvPr id="5" name="Freeform 8">
              <a:extLst>
                <a:ext uri="{FF2B5EF4-FFF2-40B4-BE49-F238E27FC236}">
                  <a16:creationId xmlns:a16="http://schemas.microsoft.com/office/drawing/2014/main" id="{0D6E8404-8300-FCB3-0F88-0BFA67046BF5}"/>
                </a:ext>
              </a:extLst>
            </p:cNvPr>
            <p:cNvSpPr/>
            <p:nvPr/>
          </p:nvSpPr>
          <p:spPr>
            <a:xfrm>
              <a:off x="0" y="76186"/>
              <a:ext cx="1204148" cy="187566"/>
            </a:xfrm>
            <a:custGeom>
              <a:avLst/>
              <a:gdLst/>
              <a:ahLst/>
              <a:cxnLst/>
              <a:rect l="l" t="t" r="r" b="b"/>
              <a:pathLst>
                <a:path w="1204148" h="187606">
                  <a:moveTo>
                    <a:pt x="0" y="0"/>
                  </a:moveTo>
                  <a:lnTo>
                    <a:pt x="1204148" y="0"/>
                  </a:lnTo>
                  <a:lnTo>
                    <a:pt x="1204148" y="187606"/>
                  </a:lnTo>
                  <a:lnTo>
                    <a:pt x="0" y="187606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9">
              <a:extLst>
                <a:ext uri="{FF2B5EF4-FFF2-40B4-BE49-F238E27FC236}">
                  <a16:creationId xmlns:a16="http://schemas.microsoft.com/office/drawing/2014/main" id="{9C05C931-C629-A08C-109E-D3DB04E8AF65}"/>
                </a:ext>
              </a:extLst>
            </p:cNvPr>
            <p:cNvSpPr txBox="1"/>
            <p:nvPr/>
          </p:nvSpPr>
          <p:spPr>
            <a:xfrm>
              <a:off x="10430" y="80000"/>
              <a:ext cx="1194102" cy="179661"/>
            </a:xfrm>
            <a:prstGeom prst="rect">
              <a:avLst/>
            </a:prstGeom>
            <a:solidFill>
              <a:schemeClr val="bg1"/>
            </a:solidFill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94"/>
                </a:lnSpc>
              </a:pPr>
              <a:r>
                <a:rPr lang="en-US" sz="2567" dirty="0">
                  <a:solidFill>
                    <a:srgbClr val="000000"/>
                  </a:solidFill>
                  <a:latin typeface="Canva Sans Bold"/>
                </a:rPr>
                <a:t>Introduction</a:t>
              </a:r>
            </a:p>
          </p:txBody>
        </p:sp>
      </p:grpSp>
      <p:grpSp>
        <p:nvGrpSpPr>
          <p:cNvPr id="16" name="Group 7">
            <a:extLst>
              <a:ext uri="{FF2B5EF4-FFF2-40B4-BE49-F238E27FC236}">
                <a16:creationId xmlns:a16="http://schemas.microsoft.com/office/drawing/2014/main" id="{A17BB610-8050-D126-6AAE-3FAB244ABEDD}"/>
              </a:ext>
            </a:extLst>
          </p:cNvPr>
          <p:cNvGrpSpPr/>
          <p:nvPr/>
        </p:nvGrpSpPr>
        <p:grpSpPr>
          <a:xfrm>
            <a:off x="3044795" y="6140161"/>
            <a:ext cx="3060000" cy="720000"/>
            <a:chOff x="0" y="69260"/>
            <a:chExt cx="1204148" cy="194492"/>
          </a:xfrm>
        </p:grpSpPr>
        <p:sp>
          <p:nvSpPr>
            <p:cNvPr id="17" name="Freeform 8">
              <a:extLst>
                <a:ext uri="{FF2B5EF4-FFF2-40B4-BE49-F238E27FC236}">
                  <a16:creationId xmlns:a16="http://schemas.microsoft.com/office/drawing/2014/main" id="{58EDED6B-4A54-9C8E-806C-A7AB911E0AD3}"/>
                </a:ext>
              </a:extLst>
            </p:cNvPr>
            <p:cNvSpPr/>
            <p:nvPr/>
          </p:nvSpPr>
          <p:spPr>
            <a:xfrm>
              <a:off x="0" y="76186"/>
              <a:ext cx="1204148" cy="187566"/>
            </a:xfrm>
            <a:custGeom>
              <a:avLst/>
              <a:gdLst/>
              <a:ahLst/>
              <a:cxnLst/>
              <a:rect l="l" t="t" r="r" b="b"/>
              <a:pathLst>
                <a:path w="1204148" h="187606">
                  <a:moveTo>
                    <a:pt x="0" y="0"/>
                  </a:moveTo>
                  <a:lnTo>
                    <a:pt x="1204148" y="0"/>
                  </a:lnTo>
                  <a:lnTo>
                    <a:pt x="1204148" y="187606"/>
                  </a:lnTo>
                  <a:lnTo>
                    <a:pt x="0" y="187606"/>
                  </a:ln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" name="TextBox 9">
              <a:extLst>
                <a:ext uri="{FF2B5EF4-FFF2-40B4-BE49-F238E27FC236}">
                  <a16:creationId xmlns:a16="http://schemas.microsoft.com/office/drawing/2014/main" id="{53032331-CF2A-A2BF-E9BE-0662C7EBA8C4}"/>
                </a:ext>
              </a:extLst>
            </p:cNvPr>
            <p:cNvSpPr txBox="1"/>
            <p:nvPr/>
          </p:nvSpPr>
          <p:spPr>
            <a:xfrm>
              <a:off x="94983" y="69260"/>
              <a:ext cx="1038509" cy="1796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94"/>
                </a:lnSpc>
              </a:pPr>
              <a:r>
                <a:rPr lang="en-US" sz="2800" dirty="0">
                  <a:solidFill>
                    <a:srgbClr val="000000"/>
                  </a:solidFill>
                  <a:latin typeface="Canva Sans Bold"/>
                </a:rPr>
                <a:t>Proposed Model</a:t>
              </a:r>
              <a:endParaRPr lang="en-US" sz="2567" dirty="0">
                <a:solidFill>
                  <a:srgbClr val="000000"/>
                </a:solidFill>
                <a:latin typeface="Canva Sans Bold"/>
              </a:endParaRPr>
            </a:p>
          </p:txBody>
        </p:sp>
      </p:grpSp>
      <p:grpSp>
        <p:nvGrpSpPr>
          <p:cNvPr id="19" name="Group 7">
            <a:extLst>
              <a:ext uri="{FF2B5EF4-FFF2-40B4-BE49-F238E27FC236}">
                <a16:creationId xmlns:a16="http://schemas.microsoft.com/office/drawing/2014/main" id="{C09A1B73-62BE-BC89-70FF-9B0B937E05D0}"/>
              </a:ext>
            </a:extLst>
          </p:cNvPr>
          <p:cNvGrpSpPr/>
          <p:nvPr/>
        </p:nvGrpSpPr>
        <p:grpSpPr>
          <a:xfrm>
            <a:off x="6097528" y="6140160"/>
            <a:ext cx="3060000" cy="720000"/>
            <a:chOff x="0" y="69260"/>
            <a:chExt cx="1204148" cy="194492"/>
          </a:xfrm>
        </p:grpSpPr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25A1ECF2-D0B4-3FAA-8CBE-242E3FC97359}"/>
                </a:ext>
              </a:extLst>
            </p:cNvPr>
            <p:cNvSpPr/>
            <p:nvPr/>
          </p:nvSpPr>
          <p:spPr>
            <a:xfrm>
              <a:off x="0" y="76186"/>
              <a:ext cx="1204148" cy="187566"/>
            </a:xfrm>
            <a:custGeom>
              <a:avLst/>
              <a:gdLst/>
              <a:ahLst/>
              <a:cxnLst/>
              <a:rect l="l" t="t" r="r" b="b"/>
              <a:pathLst>
                <a:path w="1204148" h="187606">
                  <a:moveTo>
                    <a:pt x="0" y="0"/>
                  </a:moveTo>
                  <a:lnTo>
                    <a:pt x="1204148" y="0"/>
                  </a:lnTo>
                  <a:lnTo>
                    <a:pt x="1204148" y="187606"/>
                  </a:lnTo>
                  <a:lnTo>
                    <a:pt x="0" y="187606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9">
              <a:extLst>
                <a:ext uri="{FF2B5EF4-FFF2-40B4-BE49-F238E27FC236}">
                  <a16:creationId xmlns:a16="http://schemas.microsoft.com/office/drawing/2014/main" id="{831FE57D-DB50-F8F8-ECF0-0EC1FDE4A8AF}"/>
                </a:ext>
              </a:extLst>
            </p:cNvPr>
            <p:cNvSpPr txBox="1"/>
            <p:nvPr/>
          </p:nvSpPr>
          <p:spPr>
            <a:xfrm>
              <a:off x="94983" y="69260"/>
              <a:ext cx="1038509" cy="1796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94"/>
                </a:lnSpc>
              </a:pPr>
              <a:r>
                <a:rPr lang="en-US" sz="2800" dirty="0">
                  <a:solidFill>
                    <a:srgbClr val="000000"/>
                  </a:solidFill>
                  <a:latin typeface="Canva Sans Bold"/>
                </a:rPr>
                <a:t>Experiments</a:t>
              </a:r>
            </a:p>
          </p:txBody>
        </p:sp>
      </p:grpSp>
      <p:grpSp>
        <p:nvGrpSpPr>
          <p:cNvPr id="22" name="Group 7">
            <a:extLst>
              <a:ext uri="{FF2B5EF4-FFF2-40B4-BE49-F238E27FC236}">
                <a16:creationId xmlns:a16="http://schemas.microsoft.com/office/drawing/2014/main" id="{373F4254-8C51-E833-9E7D-D890E2F70458}"/>
              </a:ext>
            </a:extLst>
          </p:cNvPr>
          <p:cNvGrpSpPr/>
          <p:nvPr/>
        </p:nvGrpSpPr>
        <p:grpSpPr>
          <a:xfrm>
            <a:off x="9150262" y="6140161"/>
            <a:ext cx="3060000" cy="720000"/>
            <a:chOff x="0" y="69260"/>
            <a:chExt cx="1204148" cy="194492"/>
          </a:xfrm>
        </p:grpSpPr>
        <p:sp>
          <p:nvSpPr>
            <p:cNvPr id="23" name="Freeform 8">
              <a:extLst>
                <a:ext uri="{FF2B5EF4-FFF2-40B4-BE49-F238E27FC236}">
                  <a16:creationId xmlns:a16="http://schemas.microsoft.com/office/drawing/2014/main" id="{AB9464F5-FD2C-05B6-4CD4-C2772008B521}"/>
                </a:ext>
              </a:extLst>
            </p:cNvPr>
            <p:cNvSpPr/>
            <p:nvPr/>
          </p:nvSpPr>
          <p:spPr>
            <a:xfrm>
              <a:off x="0" y="76186"/>
              <a:ext cx="1204148" cy="187566"/>
            </a:xfrm>
            <a:custGeom>
              <a:avLst/>
              <a:gdLst/>
              <a:ahLst/>
              <a:cxnLst/>
              <a:rect l="l" t="t" r="r" b="b"/>
              <a:pathLst>
                <a:path w="1204148" h="187606">
                  <a:moveTo>
                    <a:pt x="0" y="0"/>
                  </a:moveTo>
                  <a:lnTo>
                    <a:pt x="1204148" y="0"/>
                  </a:lnTo>
                  <a:lnTo>
                    <a:pt x="1204148" y="187606"/>
                  </a:lnTo>
                  <a:lnTo>
                    <a:pt x="0" y="187606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9">
              <a:extLst>
                <a:ext uri="{FF2B5EF4-FFF2-40B4-BE49-F238E27FC236}">
                  <a16:creationId xmlns:a16="http://schemas.microsoft.com/office/drawing/2014/main" id="{8E9B77B5-E3A2-E2C5-DE84-804DE48C8576}"/>
                </a:ext>
              </a:extLst>
            </p:cNvPr>
            <p:cNvSpPr txBox="1"/>
            <p:nvPr/>
          </p:nvSpPr>
          <p:spPr>
            <a:xfrm>
              <a:off x="94983" y="69260"/>
              <a:ext cx="1038509" cy="1796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94"/>
                </a:lnSpc>
              </a:pPr>
              <a:r>
                <a:rPr lang="en-US" sz="2800" dirty="0">
                  <a:solidFill>
                    <a:srgbClr val="000000"/>
                  </a:solidFill>
                  <a:latin typeface="Canva Sans Bold"/>
                </a:rPr>
                <a:t>Conclusion</a:t>
              </a:r>
              <a:endParaRPr lang="en-US" sz="2567" dirty="0">
                <a:solidFill>
                  <a:srgbClr val="000000"/>
                </a:solidFill>
                <a:latin typeface="Canva Sans Bold"/>
              </a:endParaRPr>
            </a:p>
          </p:txBody>
        </p:sp>
      </p:grp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5034CC-B0EC-0160-6FA2-AAD498C83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05731" y="6449114"/>
            <a:ext cx="2743200" cy="365125"/>
          </a:xfrm>
        </p:spPr>
        <p:txBody>
          <a:bodyPr/>
          <a:lstStyle/>
          <a:p>
            <a:fld id="{ABD39697-445C-5345-9B8B-DB9988CAA513}" type="slidenum">
              <a:rPr lang="en-US" smtClean="0"/>
              <a:t>5</a:t>
            </a:fld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7697653-87FA-8B9A-EB11-E47C240C1B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5230" y="1287835"/>
            <a:ext cx="9001539" cy="4082664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6DEBF2A2-9930-9A4B-7A98-89B20117B4F2}"/>
              </a:ext>
            </a:extLst>
          </p:cNvPr>
          <p:cNvSpPr txBox="1"/>
          <p:nvPr/>
        </p:nvSpPr>
        <p:spPr>
          <a:xfrm>
            <a:off x="3817073" y="5747970"/>
            <a:ext cx="415158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Fig. 2 Enhanced Prototypical Part Network (EPPNet)</a:t>
            </a:r>
          </a:p>
          <a:p>
            <a:endParaRPr lang="en-US" sz="1400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75551FF-D3B6-1DBB-AAC1-9FAB3352F2C7}"/>
              </a:ext>
            </a:extLst>
          </p:cNvPr>
          <p:cNvSpPr txBox="1"/>
          <p:nvPr/>
        </p:nvSpPr>
        <p:spPr>
          <a:xfrm>
            <a:off x="4407794" y="256563"/>
            <a:ext cx="38622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/>
              <a:t>Proposed Architecture</a:t>
            </a:r>
          </a:p>
        </p:txBody>
      </p:sp>
    </p:spTree>
    <p:extLst>
      <p:ext uri="{BB962C8B-B14F-4D97-AF65-F5344CB8AC3E}">
        <p14:creationId xmlns:p14="http://schemas.microsoft.com/office/powerpoint/2010/main" val="17553781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7">
            <a:extLst>
              <a:ext uri="{FF2B5EF4-FFF2-40B4-BE49-F238E27FC236}">
                <a16:creationId xmlns:a16="http://schemas.microsoft.com/office/drawing/2014/main" id="{89A672C5-F6E4-79AD-7B32-355CF4057726}"/>
              </a:ext>
            </a:extLst>
          </p:cNvPr>
          <p:cNvGrpSpPr/>
          <p:nvPr/>
        </p:nvGrpSpPr>
        <p:grpSpPr>
          <a:xfrm>
            <a:off x="-13253" y="6165803"/>
            <a:ext cx="3073252" cy="694360"/>
            <a:chOff x="0" y="76186"/>
            <a:chExt cx="1209363" cy="187566"/>
          </a:xfrm>
        </p:grpSpPr>
        <p:sp>
          <p:nvSpPr>
            <p:cNvPr id="5" name="Freeform 8">
              <a:extLst>
                <a:ext uri="{FF2B5EF4-FFF2-40B4-BE49-F238E27FC236}">
                  <a16:creationId xmlns:a16="http://schemas.microsoft.com/office/drawing/2014/main" id="{0D6E8404-8300-FCB3-0F88-0BFA67046BF5}"/>
                </a:ext>
              </a:extLst>
            </p:cNvPr>
            <p:cNvSpPr/>
            <p:nvPr/>
          </p:nvSpPr>
          <p:spPr>
            <a:xfrm>
              <a:off x="0" y="76186"/>
              <a:ext cx="1204148" cy="187566"/>
            </a:xfrm>
            <a:custGeom>
              <a:avLst/>
              <a:gdLst/>
              <a:ahLst/>
              <a:cxnLst/>
              <a:rect l="l" t="t" r="r" b="b"/>
              <a:pathLst>
                <a:path w="1204148" h="187606">
                  <a:moveTo>
                    <a:pt x="0" y="0"/>
                  </a:moveTo>
                  <a:lnTo>
                    <a:pt x="1204148" y="0"/>
                  </a:lnTo>
                  <a:lnTo>
                    <a:pt x="1204148" y="187606"/>
                  </a:lnTo>
                  <a:lnTo>
                    <a:pt x="0" y="187606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9">
              <a:extLst>
                <a:ext uri="{FF2B5EF4-FFF2-40B4-BE49-F238E27FC236}">
                  <a16:creationId xmlns:a16="http://schemas.microsoft.com/office/drawing/2014/main" id="{9C05C931-C629-A08C-109E-D3DB04E8AF65}"/>
                </a:ext>
              </a:extLst>
            </p:cNvPr>
            <p:cNvSpPr txBox="1"/>
            <p:nvPr/>
          </p:nvSpPr>
          <p:spPr>
            <a:xfrm>
              <a:off x="5215" y="76420"/>
              <a:ext cx="1204148" cy="1796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94"/>
                </a:lnSpc>
              </a:pPr>
              <a:r>
                <a:rPr lang="en-US" sz="2567" dirty="0">
                  <a:solidFill>
                    <a:srgbClr val="000000"/>
                  </a:solidFill>
                  <a:latin typeface="Canva Sans Bold"/>
                </a:rPr>
                <a:t>Introduction</a:t>
              </a:r>
            </a:p>
          </p:txBody>
        </p:sp>
      </p:grpSp>
      <p:grpSp>
        <p:nvGrpSpPr>
          <p:cNvPr id="16" name="Group 7">
            <a:extLst>
              <a:ext uri="{FF2B5EF4-FFF2-40B4-BE49-F238E27FC236}">
                <a16:creationId xmlns:a16="http://schemas.microsoft.com/office/drawing/2014/main" id="{A17BB610-8050-D126-6AAE-3FAB244ABEDD}"/>
              </a:ext>
            </a:extLst>
          </p:cNvPr>
          <p:cNvGrpSpPr/>
          <p:nvPr/>
        </p:nvGrpSpPr>
        <p:grpSpPr>
          <a:xfrm>
            <a:off x="3044795" y="6165801"/>
            <a:ext cx="3060000" cy="694360"/>
            <a:chOff x="0" y="76186"/>
            <a:chExt cx="1204148" cy="187566"/>
          </a:xfrm>
        </p:grpSpPr>
        <p:sp>
          <p:nvSpPr>
            <p:cNvPr id="17" name="Freeform 8">
              <a:extLst>
                <a:ext uri="{FF2B5EF4-FFF2-40B4-BE49-F238E27FC236}">
                  <a16:creationId xmlns:a16="http://schemas.microsoft.com/office/drawing/2014/main" id="{58EDED6B-4A54-9C8E-806C-A7AB911E0AD3}"/>
                </a:ext>
              </a:extLst>
            </p:cNvPr>
            <p:cNvSpPr/>
            <p:nvPr/>
          </p:nvSpPr>
          <p:spPr>
            <a:xfrm>
              <a:off x="0" y="76186"/>
              <a:ext cx="1204148" cy="187566"/>
            </a:xfrm>
            <a:custGeom>
              <a:avLst/>
              <a:gdLst/>
              <a:ahLst/>
              <a:cxnLst/>
              <a:rect l="l" t="t" r="r" b="b"/>
              <a:pathLst>
                <a:path w="1204148" h="187606">
                  <a:moveTo>
                    <a:pt x="0" y="0"/>
                  </a:moveTo>
                  <a:lnTo>
                    <a:pt x="1204148" y="0"/>
                  </a:lnTo>
                  <a:lnTo>
                    <a:pt x="1204148" y="187606"/>
                  </a:lnTo>
                  <a:lnTo>
                    <a:pt x="0" y="187606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9">
              <a:extLst>
                <a:ext uri="{FF2B5EF4-FFF2-40B4-BE49-F238E27FC236}">
                  <a16:creationId xmlns:a16="http://schemas.microsoft.com/office/drawing/2014/main" id="{53032331-CF2A-A2BF-E9BE-0662C7EBA8C4}"/>
                </a:ext>
              </a:extLst>
            </p:cNvPr>
            <p:cNvSpPr txBox="1"/>
            <p:nvPr/>
          </p:nvSpPr>
          <p:spPr>
            <a:xfrm>
              <a:off x="11198" y="79766"/>
              <a:ext cx="1184875" cy="179895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94"/>
                </a:lnSpc>
              </a:pPr>
              <a:r>
                <a:rPr lang="en-US" sz="2800" dirty="0">
                  <a:solidFill>
                    <a:srgbClr val="000000"/>
                  </a:solidFill>
                  <a:latin typeface="Canva Sans Bold"/>
                </a:rPr>
                <a:t>Proposed Model</a:t>
              </a:r>
              <a:endParaRPr lang="en-US" sz="2567" dirty="0">
                <a:solidFill>
                  <a:srgbClr val="000000"/>
                </a:solidFill>
                <a:latin typeface="Canva Sans Bold"/>
              </a:endParaRPr>
            </a:p>
          </p:txBody>
        </p:sp>
      </p:grpSp>
      <p:grpSp>
        <p:nvGrpSpPr>
          <p:cNvPr id="19" name="Group 7">
            <a:extLst>
              <a:ext uri="{FF2B5EF4-FFF2-40B4-BE49-F238E27FC236}">
                <a16:creationId xmlns:a16="http://schemas.microsoft.com/office/drawing/2014/main" id="{C09A1B73-62BE-BC89-70FF-9B0B937E05D0}"/>
              </a:ext>
            </a:extLst>
          </p:cNvPr>
          <p:cNvGrpSpPr/>
          <p:nvPr/>
        </p:nvGrpSpPr>
        <p:grpSpPr>
          <a:xfrm>
            <a:off x="6097528" y="6165800"/>
            <a:ext cx="3060000" cy="694360"/>
            <a:chOff x="0" y="76186"/>
            <a:chExt cx="1204148" cy="187566"/>
          </a:xfrm>
        </p:grpSpPr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25A1ECF2-D0B4-3FAA-8CBE-242E3FC97359}"/>
                </a:ext>
              </a:extLst>
            </p:cNvPr>
            <p:cNvSpPr/>
            <p:nvPr/>
          </p:nvSpPr>
          <p:spPr>
            <a:xfrm>
              <a:off x="0" y="76186"/>
              <a:ext cx="1204148" cy="187566"/>
            </a:xfrm>
            <a:custGeom>
              <a:avLst/>
              <a:gdLst/>
              <a:ahLst/>
              <a:cxnLst/>
              <a:rect l="l" t="t" r="r" b="b"/>
              <a:pathLst>
                <a:path w="1204148" h="187606">
                  <a:moveTo>
                    <a:pt x="0" y="0"/>
                  </a:moveTo>
                  <a:lnTo>
                    <a:pt x="1204148" y="0"/>
                  </a:lnTo>
                  <a:lnTo>
                    <a:pt x="1204148" y="187606"/>
                  </a:lnTo>
                  <a:lnTo>
                    <a:pt x="0" y="187606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9">
              <a:extLst>
                <a:ext uri="{FF2B5EF4-FFF2-40B4-BE49-F238E27FC236}">
                  <a16:creationId xmlns:a16="http://schemas.microsoft.com/office/drawing/2014/main" id="{831FE57D-DB50-F8F8-ECF0-0EC1FDE4A8AF}"/>
                </a:ext>
              </a:extLst>
            </p:cNvPr>
            <p:cNvSpPr txBox="1"/>
            <p:nvPr/>
          </p:nvSpPr>
          <p:spPr>
            <a:xfrm>
              <a:off x="8075" y="80000"/>
              <a:ext cx="1186796" cy="179661"/>
            </a:xfrm>
            <a:prstGeom prst="rect">
              <a:avLst/>
            </a:prstGeom>
            <a:no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94"/>
                </a:lnSpc>
              </a:pPr>
              <a:r>
                <a:rPr lang="en-US" sz="2800" dirty="0">
                  <a:solidFill>
                    <a:srgbClr val="000000"/>
                  </a:solidFill>
                  <a:latin typeface="Canva Sans Bold"/>
                </a:rPr>
                <a:t>Experiments</a:t>
              </a:r>
            </a:p>
          </p:txBody>
        </p:sp>
      </p:grpSp>
      <p:grpSp>
        <p:nvGrpSpPr>
          <p:cNvPr id="22" name="Group 7">
            <a:extLst>
              <a:ext uri="{FF2B5EF4-FFF2-40B4-BE49-F238E27FC236}">
                <a16:creationId xmlns:a16="http://schemas.microsoft.com/office/drawing/2014/main" id="{373F4254-8C51-E833-9E7D-D890E2F70458}"/>
              </a:ext>
            </a:extLst>
          </p:cNvPr>
          <p:cNvGrpSpPr/>
          <p:nvPr/>
        </p:nvGrpSpPr>
        <p:grpSpPr>
          <a:xfrm>
            <a:off x="9150262" y="6165801"/>
            <a:ext cx="3060000" cy="694360"/>
            <a:chOff x="0" y="76186"/>
            <a:chExt cx="1204148" cy="187566"/>
          </a:xfrm>
        </p:grpSpPr>
        <p:sp>
          <p:nvSpPr>
            <p:cNvPr id="23" name="Freeform 8">
              <a:extLst>
                <a:ext uri="{FF2B5EF4-FFF2-40B4-BE49-F238E27FC236}">
                  <a16:creationId xmlns:a16="http://schemas.microsoft.com/office/drawing/2014/main" id="{AB9464F5-FD2C-05B6-4CD4-C2772008B521}"/>
                </a:ext>
              </a:extLst>
            </p:cNvPr>
            <p:cNvSpPr/>
            <p:nvPr/>
          </p:nvSpPr>
          <p:spPr>
            <a:xfrm>
              <a:off x="0" y="76186"/>
              <a:ext cx="1204148" cy="187566"/>
            </a:xfrm>
            <a:custGeom>
              <a:avLst/>
              <a:gdLst/>
              <a:ahLst/>
              <a:cxnLst/>
              <a:rect l="l" t="t" r="r" b="b"/>
              <a:pathLst>
                <a:path w="1204148" h="187606">
                  <a:moveTo>
                    <a:pt x="0" y="0"/>
                  </a:moveTo>
                  <a:lnTo>
                    <a:pt x="1204148" y="0"/>
                  </a:lnTo>
                  <a:lnTo>
                    <a:pt x="1204148" y="187606"/>
                  </a:lnTo>
                  <a:lnTo>
                    <a:pt x="0" y="187606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9">
              <a:extLst>
                <a:ext uri="{FF2B5EF4-FFF2-40B4-BE49-F238E27FC236}">
                  <a16:creationId xmlns:a16="http://schemas.microsoft.com/office/drawing/2014/main" id="{8E9B77B5-E3A2-E2C5-DE84-804DE48C8576}"/>
                </a:ext>
              </a:extLst>
            </p:cNvPr>
            <p:cNvSpPr txBox="1"/>
            <p:nvPr/>
          </p:nvSpPr>
          <p:spPr>
            <a:xfrm>
              <a:off x="8074" y="80000"/>
              <a:ext cx="1188888" cy="179661"/>
            </a:xfrm>
            <a:prstGeom prst="rect">
              <a:avLst/>
            </a:prstGeom>
            <a:no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94"/>
                </a:lnSpc>
              </a:pPr>
              <a:r>
                <a:rPr lang="en-US" sz="2800" dirty="0">
                  <a:solidFill>
                    <a:srgbClr val="000000"/>
                  </a:solidFill>
                  <a:latin typeface="Canva Sans Bold"/>
                </a:rPr>
                <a:t>Conclusion</a:t>
              </a:r>
              <a:endParaRPr lang="en-US" sz="2567" dirty="0">
                <a:solidFill>
                  <a:srgbClr val="000000"/>
                </a:solidFill>
                <a:latin typeface="Canva Sans Bold"/>
              </a:endParaRPr>
            </a:p>
          </p:txBody>
        </p:sp>
      </p:grp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AC61C8-5F7B-B8D3-D010-F5A9D4871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05727" y="6435862"/>
            <a:ext cx="2743200" cy="365125"/>
          </a:xfrm>
        </p:spPr>
        <p:txBody>
          <a:bodyPr/>
          <a:lstStyle/>
          <a:p>
            <a:fld id="{ABD39697-445C-5345-9B8B-DB9988CAA513}" type="slidenum">
              <a:rPr lang="en-US" smtClean="0"/>
              <a:t>6</a:t>
            </a:fld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83BCC07-1FB5-7746-EB42-2069C834F5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751087"/>
            <a:ext cx="7775410" cy="37944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18F5815-9932-A57D-2049-7CD0ACAEC8C0}"/>
              </a:ext>
            </a:extLst>
          </p:cNvPr>
          <p:cNvSpPr txBox="1"/>
          <p:nvPr/>
        </p:nvSpPr>
        <p:spPr>
          <a:xfrm>
            <a:off x="1320205" y="4876800"/>
            <a:ext cx="9551590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Fig. 3 Sample activation maps and their corresponding prototypes as learned by the proposed EPPNet (left) and the PPNet</a:t>
            </a:r>
          </a:p>
          <a:p>
            <a:pPr algn="ctr"/>
            <a:r>
              <a:rPr lang="en-US" sz="1400" dirty="0"/>
              <a:t>(right) from a training image</a:t>
            </a:r>
          </a:p>
          <a:p>
            <a:pPr algn="ctr"/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8307376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7">
            <a:extLst>
              <a:ext uri="{FF2B5EF4-FFF2-40B4-BE49-F238E27FC236}">
                <a16:creationId xmlns:a16="http://schemas.microsoft.com/office/drawing/2014/main" id="{89A672C5-F6E4-79AD-7B32-355CF4057726}"/>
              </a:ext>
            </a:extLst>
          </p:cNvPr>
          <p:cNvGrpSpPr/>
          <p:nvPr/>
        </p:nvGrpSpPr>
        <p:grpSpPr>
          <a:xfrm>
            <a:off x="-13253" y="6165803"/>
            <a:ext cx="3073252" cy="694360"/>
            <a:chOff x="0" y="76186"/>
            <a:chExt cx="1209363" cy="187566"/>
          </a:xfrm>
        </p:grpSpPr>
        <p:sp>
          <p:nvSpPr>
            <p:cNvPr id="5" name="Freeform 8">
              <a:extLst>
                <a:ext uri="{FF2B5EF4-FFF2-40B4-BE49-F238E27FC236}">
                  <a16:creationId xmlns:a16="http://schemas.microsoft.com/office/drawing/2014/main" id="{0D6E8404-8300-FCB3-0F88-0BFA67046BF5}"/>
                </a:ext>
              </a:extLst>
            </p:cNvPr>
            <p:cNvSpPr/>
            <p:nvPr/>
          </p:nvSpPr>
          <p:spPr>
            <a:xfrm>
              <a:off x="0" y="76186"/>
              <a:ext cx="1204148" cy="187566"/>
            </a:xfrm>
            <a:custGeom>
              <a:avLst/>
              <a:gdLst/>
              <a:ahLst/>
              <a:cxnLst/>
              <a:rect l="l" t="t" r="r" b="b"/>
              <a:pathLst>
                <a:path w="1204148" h="187606">
                  <a:moveTo>
                    <a:pt x="0" y="0"/>
                  </a:moveTo>
                  <a:lnTo>
                    <a:pt x="1204148" y="0"/>
                  </a:lnTo>
                  <a:lnTo>
                    <a:pt x="1204148" y="187606"/>
                  </a:lnTo>
                  <a:lnTo>
                    <a:pt x="0" y="187606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9">
              <a:extLst>
                <a:ext uri="{FF2B5EF4-FFF2-40B4-BE49-F238E27FC236}">
                  <a16:creationId xmlns:a16="http://schemas.microsoft.com/office/drawing/2014/main" id="{9C05C931-C629-A08C-109E-D3DB04E8AF65}"/>
                </a:ext>
              </a:extLst>
            </p:cNvPr>
            <p:cNvSpPr txBox="1"/>
            <p:nvPr/>
          </p:nvSpPr>
          <p:spPr>
            <a:xfrm>
              <a:off x="5215" y="76420"/>
              <a:ext cx="1204148" cy="1796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94"/>
                </a:lnSpc>
              </a:pPr>
              <a:r>
                <a:rPr lang="en-US" sz="2567" dirty="0">
                  <a:solidFill>
                    <a:srgbClr val="000000"/>
                  </a:solidFill>
                  <a:latin typeface="Canva Sans Bold"/>
                </a:rPr>
                <a:t>Introduction</a:t>
              </a:r>
            </a:p>
          </p:txBody>
        </p:sp>
      </p:grpSp>
      <p:grpSp>
        <p:nvGrpSpPr>
          <p:cNvPr id="16" name="Group 7">
            <a:extLst>
              <a:ext uri="{FF2B5EF4-FFF2-40B4-BE49-F238E27FC236}">
                <a16:creationId xmlns:a16="http://schemas.microsoft.com/office/drawing/2014/main" id="{A17BB610-8050-D126-6AAE-3FAB244ABEDD}"/>
              </a:ext>
            </a:extLst>
          </p:cNvPr>
          <p:cNvGrpSpPr/>
          <p:nvPr/>
        </p:nvGrpSpPr>
        <p:grpSpPr>
          <a:xfrm>
            <a:off x="3044795" y="6165801"/>
            <a:ext cx="3060000" cy="694360"/>
            <a:chOff x="0" y="76186"/>
            <a:chExt cx="1204148" cy="187566"/>
          </a:xfrm>
        </p:grpSpPr>
        <p:sp>
          <p:nvSpPr>
            <p:cNvPr id="17" name="Freeform 8">
              <a:extLst>
                <a:ext uri="{FF2B5EF4-FFF2-40B4-BE49-F238E27FC236}">
                  <a16:creationId xmlns:a16="http://schemas.microsoft.com/office/drawing/2014/main" id="{58EDED6B-4A54-9C8E-806C-A7AB911E0AD3}"/>
                </a:ext>
              </a:extLst>
            </p:cNvPr>
            <p:cNvSpPr/>
            <p:nvPr/>
          </p:nvSpPr>
          <p:spPr>
            <a:xfrm>
              <a:off x="0" y="76186"/>
              <a:ext cx="1204148" cy="187566"/>
            </a:xfrm>
            <a:custGeom>
              <a:avLst/>
              <a:gdLst/>
              <a:ahLst/>
              <a:cxnLst/>
              <a:rect l="l" t="t" r="r" b="b"/>
              <a:pathLst>
                <a:path w="1204148" h="187606">
                  <a:moveTo>
                    <a:pt x="0" y="0"/>
                  </a:moveTo>
                  <a:lnTo>
                    <a:pt x="1204148" y="0"/>
                  </a:lnTo>
                  <a:lnTo>
                    <a:pt x="1204148" y="187606"/>
                  </a:lnTo>
                  <a:lnTo>
                    <a:pt x="0" y="187606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9">
              <a:extLst>
                <a:ext uri="{FF2B5EF4-FFF2-40B4-BE49-F238E27FC236}">
                  <a16:creationId xmlns:a16="http://schemas.microsoft.com/office/drawing/2014/main" id="{53032331-CF2A-A2BF-E9BE-0662C7EBA8C4}"/>
                </a:ext>
              </a:extLst>
            </p:cNvPr>
            <p:cNvSpPr txBox="1"/>
            <p:nvPr/>
          </p:nvSpPr>
          <p:spPr>
            <a:xfrm>
              <a:off x="11198" y="79766"/>
              <a:ext cx="1184875" cy="179895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94"/>
                </a:lnSpc>
              </a:pPr>
              <a:r>
                <a:rPr lang="en-US" sz="2800" dirty="0">
                  <a:solidFill>
                    <a:srgbClr val="000000"/>
                  </a:solidFill>
                  <a:latin typeface="Canva Sans Bold"/>
                </a:rPr>
                <a:t>Proposed Model</a:t>
              </a:r>
              <a:endParaRPr lang="en-US" sz="2567" dirty="0">
                <a:solidFill>
                  <a:srgbClr val="000000"/>
                </a:solidFill>
                <a:latin typeface="Canva Sans Bold"/>
              </a:endParaRPr>
            </a:p>
          </p:txBody>
        </p:sp>
      </p:grpSp>
      <p:grpSp>
        <p:nvGrpSpPr>
          <p:cNvPr id="19" name="Group 7">
            <a:extLst>
              <a:ext uri="{FF2B5EF4-FFF2-40B4-BE49-F238E27FC236}">
                <a16:creationId xmlns:a16="http://schemas.microsoft.com/office/drawing/2014/main" id="{C09A1B73-62BE-BC89-70FF-9B0B937E05D0}"/>
              </a:ext>
            </a:extLst>
          </p:cNvPr>
          <p:cNvGrpSpPr/>
          <p:nvPr/>
        </p:nvGrpSpPr>
        <p:grpSpPr>
          <a:xfrm>
            <a:off x="6097528" y="6165800"/>
            <a:ext cx="3060000" cy="694360"/>
            <a:chOff x="0" y="76186"/>
            <a:chExt cx="1204148" cy="187566"/>
          </a:xfrm>
        </p:grpSpPr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25A1ECF2-D0B4-3FAA-8CBE-242E3FC97359}"/>
                </a:ext>
              </a:extLst>
            </p:cNvPr>
            <p:cNvSpPr/>
            <p:nvPr/>
          </p:nvSpPr>
          <p:spPr>
            <a:xfrm>
              <a:off x="0" y="76186"/>
              <a:ext cx="1204148" cy="187566"/>
            </a:xfrm>
            <a:custGeom>
              <a:avLst/>
              <a:gdLst/>
              <a:ahLst/>
              <a:cxnLst/>
              <a:rect l="l" t="t" r="r" b="b"/>
              <a:pathLst>
                <a:path w="1204148" h="187606">
                  <a:moveTo>
                    <a:pt x="0" y="0"/>
                  </a:moveTo>
                  <a:lnTo>
                    <a:pt x="1204148" y="0"/>
                  </a:lnTo>
                  <a:lnTo>
                    <a:pt x="1204148" y="187606"/>
                  </a:lnTo>
                  <a:lnTo>
                    <a:pt x="0" y="187606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9">
              <a:extLst>
                <a:ext uri="{FF2B5EF4-FFF2-40B4-BE49-F238E27FC236}">
                  <a16:creationId xmlns:a16="http://schemas.microsoft.com/office/drawing/2014/main" id="{831FE57D-DB50-F8F8-ECF0-0EC1FDE4A8AF}"/>
                </a:ext>
              </a:extLst>
            </p:cNvPr>
            <p:cNvSpPr txBox="1"/>
            <p:nvPr/>
          </p:nvSpPr>
          <p:spPr>
            <a:xfrm>
              <a:off x="8075" y="80000"/>
              <a:ext cx="1186796" cy="179661"/>
            </a:xfrm>
            <a:prstGeom prst="rect">
              <a:avLst/>
            </a:prstGeom>
            <a:no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94"/>
                </a:lnSpc>
              </a:pPr>
              <a:r>
                <a:rPr lang="en-US" sz="2800" dirty="0">
                  <a:solidFill>
                    <a:srgbClr val="000000"/>
                  </a:solidFill>
                  <a:latin typeface="Canva Sans Bold"/>
                </a:rPr>
                <a:t>Experiments</a:t>
              </a:r>
            </a:p>
          </p:txBody>
        </p:sp>
      </p:grpSp>
      <p:grpSp>
        <p:nvGrpSpPr>
          <p:cNvPr id="22" name="Group 7">
            <a:extLst>
              <a:ext uri="{FF2B5EF4-FFF2-40B4-BE49-F238E27FC236}">
                <a16:creationId xmlns:a16="http://schemas.microsoft.com/office/drawing/2014/main" id="{373F4254-8C51-E833-9E7D-D890E2F70458}"/>
              </a:ext>
            </a:extLst>
          </p:cNvPr>
          <p:cNvGrpSpPr/>
          <p:nvPr/>
        </p:nvGrpSpPr>
        <p:grpSpPr>
          <a:xfrm>
            <a:off x="9150262" y="6165801"/>
            <a:ext cx="3060000" cy="694360"/>
            <a:chOff x="0" y="76186"/>
            <a:chExt cx="1204148" cy="187566"/>
          </a:xfrm>
        </p:grpSpPr>
        <p:sp>
          <p:nvSpPr>
            <p:cNvPr id="23" name="Freeform 8">
              <a:extLst>
                <a:ext uri="{FF2B5EF4-FFF2-40B4-BE49-F238E27FC236}">
                  <a16:creationId xmlns:a16="http://schemas.microsoft.com/office/drawing/2014/main" id="{AB9464F5-FD2C-05B6-4CD4-C2772008B521}"/>
                </a:ext>
              </a:extLst>
            </p:cNvPr>
            <p:cNvSpPr/>
            <p:nvPr/>
          </p:nvSpPr>
          <p:spPr>
            <a:xfrm>
              <a:off x="0" y="76186"/>
              <a:ext cx="1204148" cy="187566"/>
            </a:xfrm>
            <a:custGeom>
              <a:avLst/>
              <a:gdLst/>
              <a:ahLst/>
              <a:cxnLst/>
              <a:rect l="l" t="t" r="r" b="b"/>
              <a:pathLst>
                <a:path w="1204148" h="187606">
                  <a:moveTo>
                    <a:pt x="0" y="0"/>
                  </a:moveTo>
                  <a:lnTo>
                    <a:pt x="1204148" y="0"/>
                  </a:lnTo>
                  <a:lnTo>
                    <a:pt x="1204148" y="187606"/>
                  </a:lnTo>
                  <a:lnTo>
                    <a:pt x="0" y="187606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9">
              <a:extLst>
                <a:ext uri="{FF2B5EF4-FFF2-40B4-BE49-F238E27FC236}">
                  <a16:creationId xmlns:a16="http://schemas.microsoft.com/office/drawing/2014/main" id="{8E9B77B5-E3A2-E2C5-DE84-804DE48C8576}"/>
                </a:ext>
              </a:extLst>
            </p:cNvPr>
            <p:cNvSpPr txBox="1"/>
            <p:nvPr/>
          </p:nvSpPr>
          <p:spPr>
            <a:xfrm>
              <a:off x="8074" y="80000"/>
              <a:ext cx="1188888" cy="179661"/>
            </a:xfrm>
            <a:prstGeom prst="rect">
              <a:avLst/>
            </a:prstGeom>
            <a:no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94"/>
                </a:lnSpc>
              </a:pPr>
              <a:r>
                <a:rPr lang="en-US" sz="2800" dirty="0">
                  <a:solidFill>
                    <a:srgbClr val="000000"/>
                  </a:solidFill>
                  <a:latin typeface="Canva Sans Bold"/>
                </a:rPr>
                <a:t>Conclusion</a:t>
              </a:r>
              <a:endParaRPr lang="en-US" sz="2567" dirty="0">
                <a:solidFill>
                  <a:srgbClr val="000000"/>
                </a:solidFill>
                <a:latin typeface="Canva Sans Bold"/>
              </a:endParaRPr>
            </a:p>
          </p:txBody>
        </p:sp>
      </p:grp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AC61C8-5F7B-B8D3-D010-F5A9D4871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05727" y="6435862"/>
            <a:ext cx="2743200" cy="365125"/>
          </a:xfrm>
        </p:spPr>
        <p:txBody>
          <a:bodyPr/>
          <a:lstStyle/>
          <a:p>
            <a:fld id="{ABD39697-445C-5345-9B8B-DB9988CAA513}" type="slidenum">
              <a:rPr lang="en-US" smtClean="0"/>
              <a:t>7</a:t>
            </a:fld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AA1B721-7A4A-D719-2802-F22490E2C32F}"/>
              </a:ext>
            </a:extLst>
          </p:cNvPr>
          <p:cNvSpPr txBox="1"/>
          <p:nvPr/>
        </p:nvSpPr>
        <p:spPr>
          <a:xfrm>
            <a:off x="1000540" y="665921"/>
            <a:ext cx="2563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GB" sz="1800" b="1" dirty="0"/>
              <a:t>Mean – Cluster Loss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F9BF728-D77C-5442-A8CD-7B784188EA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9531" y="6260"/>
            <a:ext cx="4520338" cy="222051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F8AE055-191F-72EE-843F-B5313214C1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9258" y="2710496"/>
            <a:ext cx="3780884" cy="259021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289E398-DB3D-3987-177E-8556D573E197}"/>
              </a:ext>
            </a:extLst>
          </p:cNvPr>
          <p:cNvSpPr txBox="1"/>
          <p:nvPr/>
        </p:nvSpPr>
        <p:spPr>
          <a:xfrm>
            <a:off x="7940318" y="2317792"/>
            <a:ext cx="35937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Fig. 4 Cluster formation in (1) the PPNet and </a:t>
            </a:r>
          </a:p>
          <a:p>
            <a:pPr algn="ctr"/>
            <a:r>
              <a:rPr lang="en-US" sz="1400" dirty="0"/>
              <a:t>(2) the EPPNet when </a:t>
            </a:r>
            <a:r>
              <a:rPr lang="el-GR" sz="1400" dirty="0"/>
              <a:t>θ = 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65ECCB7-465A-3BA6-4429-5EE19B7C0B6D}"/>
              </a:ext>
            </a:extLst>
          </p:cNvPr>
          <p:cNvSpPr txBox="1"/>
          <p:nvPr/>
        </p:nvSpPr>
        <p:spPr>
          <a:xfrm>
            <a:off x="6868886" y="5426981"/>
            <a:ext cx="540821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Fig. 5 Example curves representing a set of squared distance</a:t>
            </a:r>
          </a:p>
          <a:p>
            <a:pPr algn="ctr"/>
            <a:r>
              <a:rPr lang="en-US" sz="1400" dirty="0"/>
              <a:t>distances {</a:t>
            </a:r>
            <a:r>
              <a:rPr lang="en-US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d</a:t>
            </a:r>
            <a:r>
              <a:rPr lang="en-US" sz="1400" baseline="-25000" dirty="0">
                <a:latin typeface="Cambria Math" panose="02040503050406030204" pitchFamily="18" charset="0"/>
                <a:ea typeface="Cambria Math" panose="02040503050406030204" pitchFamily="18" charset="0"/>
              </a:rPr>
              <a:t>1</a:t>
            </a:r>
            <a:r>
              <a:rPr lang="en-US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, d</a:t>
            </a:r>
            <a:r>
              <a:rPr lang="en-US" sz="1400" baseline="-25000" dirty="0">
                <a:latin typeface="Cambria Math" panose="02040503050406030204" pitchFamily="18" charset="0"/>
                <a:ea typeface="Cambria Math" panose="02040503050406030204" pitchFamily="18" charset="0"/>
              </a:rPr>
              <a:t>2</a:t>
            </a:r>
            <a:r>
              <a:rPr lang="en-US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,…, d</a:t>
            </a:r>
            <a:r>
              <a:rPr lang="el-GR" sz="1400" baseline="-25000" dirty="0">
                <a:latin typeface="Cambria Math" panose="02040503050406030204" pitchFamily="18" charset="0"/>
                <a:ea typeface="Cambria Math" panose="02040503050406030204" pitchFamily="18" charset="0"/>
              </a:rPr>
              <a:t>θ</a:t>
            </a:r>
            <a:r>
              <a:rPr lang="el-GR" sz="1400" dirty="0"/>
              <a:t>} </a:t>
            </a:r>
            <a:r>
              <a:rPr lang="en-US" sz="1400" dirty="0"/>
              <a:t>as the training process progresses</a:t>
            </a:r>
          </a:p>
          <a:p>
            <a:pPr algn="ctr"/>
            <a:r>
              <a:rPr lang="en-US" sz="1400" dirty="0"/>
              <a:t>(i.e., number of epochs)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A39A981-8192-7121-457A-A85C53EA22AF}"/>
                  </a:ext>
                </a:extLst>
              </p:cNvPr>
              <p:cNvSpPr txBox="1"/>
              <p:nvPr/>
            </p:nvSpPr>
            <p:spPr>
              <a:xfrm>
                <a:off x="1000540" y="1490584"/>
                <a:ext cx="4951292" cy="38768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ℒ</m:t>
                        </m:r>
                      </m:e>
                      <m:sub>
                        <m:r>
                          <m:rPr>
                            <m:nor/>
                          </m:rPr>
                          <a:rPr lang="en-US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total </m:t>
                        </m:r>
                      </m:sub>
                    </m:sSub>
                    <m:r>
                      <a:rPr lang="en-US" sz="180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ℒ</m:t>
                        </m:r>
                      </m:e>
                      <m:sub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𝑐𝑒</m:t>
                        </m:r>
                      </m:sub>
                    </m:sSub>
                    <m:r>
                      <a:rPr lang="en-US" sz="180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en-US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𝜆</m:t>
                        </m:r>
                      </m:e>
                      <m:sub>
                        <m:r>
                          <a:rPr lang="en-US" sz="18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ℒ</m:t>
                        </m:r>
                      </m:e>
                      <m:sub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𝑚𝑐𝑙𝑠𝑡</m:t>
                        </m:r>
                      </m:sub>
                    </m:sSub>
                    <m:r>
                      <a:rPr lang="en-US" sz="180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en-US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𝜆</m:t>
                        </m:r>
                      </m:e>
                      <m:sub>
                        <m:r>
                          <a:rPr lang="en-US" sz="18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ℒ</m:t>
                        </m:r>
                      </m:e>
                      <m:sub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𝑠𝑒𝑝</m:t>
                        </m:r>
                      </m:sub>
                    </m:sSub>
                  </m:oMath>
                </a14:m>
                <a:r>
                  <a:rPr lang="en-GB" dirty="0">
                    <a:effectLst/>
                  </a:rPr>
                  <a:t> </a:t>
                </a:r>
              </a:p>
              <a:p>
                <a:endParaRPr lang="en-GB" dirty="0">
                  <a:effectLst/>
                </a:endParaRPr>
              </a:p>
              <a:p>
                <a:endParaRPr lang="en-GB" dirty="0"/>
              </a:p>
              <a:p>
                <a:pPr/>
                <a14:m>
                  <m:oMathPara xmlns:m="http://schemas.openxmlformats.org/officeDocument/2006/math">
                    <m:oMath>
                      <m:eqArr>
                        <m:eqArrPr>
                          <m:ctrlPr>
                            <a:rPr lang="en-GB" sz="1800" i="1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eqArrPr>
                        <m:e>
                          <m:sSub>
                            <m:sSubPr>
                              <m:ctrlP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ℒ</m:t>
                              </m:r>
                            </m:e>
                            <m:sub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𝑐𝑒</m:t>
                              </m:r>
                            </m:sub>
                          </m:sSub>
                          <m:r>
                            <a:rPr lang="en-US" sz="18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=</m:t>
                          </m:r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18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8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den>
                          </m:f>
                          <m:nary>
                            <m:naryPr>
                              <m:chr m:val="∑"/>
                              <m:limLoc m:val="undOvr"/>
                              <m:grow m:val="on"/>
                              <m:ctrlP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  <m:r>
                                <a:rPr lang="en-US" sz="18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sup>
                            <m:e>
                              <m:r>
                                <a:rPr lang="en-US" sz="18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 </m:t>
                              </m:r>
                            </m:e>
                          </m:nary>
                          <m:r>
                            <a:rPr lang="en-US" sz="18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 </m:t>
                          </m:r>
                          <m:d>
                            <m:dPr>
                              <m:ctrlPr>
                                <a:rPr lang="en-GB" sz="18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limLoc m:val="undOvr"/>
                                  <m:grow m:val="on"/>
                                  <m:ctrlP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𝑘</m:t>
                                  </m:r>
                                  <m:r>
                                    <a:rPr lang="en-US" sz="1800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𝐾</m:t>
                                  </m:r>
                                </m:sup>
                                <m:e>
                                  <m:r>
                                    <a:rPr lang="en-US" sz="1800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 </m:t>
                                  </m:r>
                                </m:e>
                              </m:nary>
                              <m:r>
                                <a:rPr lang="en-US" sz="18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 </m:t>
                              </m:r>
                              <m:sSub>
                                <m:sSubPr>
                                  <m:ctrlP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𝑖𝑘</m:t>
                                  </m:r>
                                </m:sub>
                              </m:sSub>
                              <m:func>
                                <m:funcPr>
                                  <m:ctrlPr>
                                    <a:rPr lang="en-US" sz="1800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1800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GB" sz="1800" i="1">
                                          <a:effectLst/>
                                          <a:latin typeface="Cambria Math" panose="02040503050406030204" pitchFamily="18" charset="0"/>
                                          <a:ea typeface="Aptos" panose="020B0004020202020204" pitchFamily="34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GB" sz="1800" i="1">
                                              <a:effectLst/>
                                              <a:latin typeface="Cambria Math" panose="02040503050406030204" pitchFamily="18" charset="0"/>
                                              <a:ea typeface="Aptos" panose="020B0004020202020204" pitchFamily="34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ˆ"/>
                                              <m:ctrlPr>
                                                <a:rPr lang="en-US" sz="1800" i="1">
                                                  <a:effectLst/>
                                                  <a:latin typeface="Cambria Math" panose="02040503050406030204" pitchFamily="18" charset="0"/>
                                                  <a:ea typeface="Aptos" panose="020B0004020202020204" pitchFamily="34" charset="0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sz="1800" i="1">
                                                  <a:effectLst/>
                                                  <a:latin typeface="Cambria Math" panose="02040503050406030204" pitchFamily="18" charset="0"/>
                                                  <a:ea typeface="Aptos" panose="020B0004020202020204" pitchFamily="34" charset="0"/>
                                                  <a:cs typeface="Times New Roman" panose="020206030504050203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sz="1800" i="1">
                                              <a:effectLst/>
                                              <a:latin typeface="Cambria Math" panose="02040503050406030204" pitchFamily="18" charset="0"/>
                                              <a:ea typeface="Aptos" panose="020B0004020202020204" pitchFamily="34" charset="0"/>
                                              <a:cs typeface="Times New Roman" panose="02020603050405020304" pitchFamily="18" charset="0"/>
                                            </a:rPr>
                                            <m:t>𝑖𝑘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func>
                            </m:e>
                          </m:d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#</m:t>
                          </m:r>
                          <m:d>
                            <m:dPr>
                              <m:ctrlPr>
                                <a:rPr lang="en-US" sz="1800" i="1" smtClean="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i="1" smtClean="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</m:e>
                          </m:d>
                        </m:e>
                        <m:e>
                          <m:sSub>
                            <m:sSubPr>
                              <m:ctrlP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ℒ</m:t>
                              </m:r>
                            </m:e>
                            <m:sub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𝑚𝑐𝑙𝑠𝑡</m:t>
                              </m:r>
                            </m:sub>
                          </m:sSub>
                          <m:r>
                            <a:rPr lang="en-US" sz="18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sz="18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8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den>
                          </m:f>
                          <m:nary>
                            <m:naryPr>
                              <m:chr m:val="∑"/>
                              <m:limLoc m:val="undOvr"/>
                              <m:grow m:val="on"/>
                              <m:ctrlP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  <m:r>
                                <a:rPr lang="en-US" sz="18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sup>
                            <m:e>
                              <m:r>
                                <a:rPr lang="en-US" sz="18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 </m:t>
                              </m:r>
                            </m:e>
                          </m:nary>
                          <m:r>
                            <a:rPr lang="en-US" sz="18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 </m:t>
                          </m:r>
                          <m:d>
                            <m:dPr>
                              <m:ctrlPr>
                                <a:rPr lang="en-GB" sz="18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1800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800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𝜃</m:t>
                                  </m:r>
                                </m:den>
                              </m:f>
                              <m:nary>
                                <m:naryPr>
                                  <m:chr m:val="∑"/>
                                  <m:limLoc m:val="undOvr"/>
                                  <m:grow m:val="on"/>
                                  <m:ctrlP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𝜔</m:t>
                                  </m:r>
                                  <m:r>
                                    <a:rPr lang="en-US" sz="1800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𝜃</m:t>
                                  </m:r>
                                </m:sup>
                                <m:e>
                                  <m:r>
                                    <a:rPr lang="en-US" sz="1800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 </m:t>
                                  </m:r>
                                </m:e>
                              </m:nary>
                              <m:r>
                                <a:rPr lang="en-US" sz="18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 </m:t>
                              </m:r>
                              <m:limLow>
                                <m:limLowPr>
                                  <m:ctrlPr>
                                    <a:rPr lang="en-US" sz="1800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800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min</m:t>
                                  </m:r>
                                </m:e>
                                <m:lim>
                                  <m:box>
                                    <m:boxPr>
                                      <m:ctrlPr>
                                        <a:rPr lang="en-GB" sz="1800" i="1">
                                          <a:effectLst/>
                                          <a:latin typeface="Cambria Math" panose="02040503050406030204" pitchFamily="18" charset="0"/>
                                          <a:ea typeface="Aptos" panose="020B0004020202020204" pitchFamily="34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boxPr>
                                    <m:e>
                                      <m:m>
                                        <m:mPr>
                                          <m:plcHide m:val="on"/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GB" sz="1800" i="1">
                                              <a:effectLst/>
                                              <a:latin typeface="Cambria Math" panose="02040503050406030204" pitchFamily="18" charset="0"/>
                                              <a:ea typeface="Aptos" panose="020B0004020202020204" pitchFamily="34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sz="1800" i="1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Aptos" panose="020B0004020202020204" pitchFamily="34" charset="0"/>
                                                    <a:cs typeface="Times New Roman" panose="020206030504050203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1800" i="1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Aptos" panose="020B0004020202020204" pitchFamily="34" charset="0"/>
                                                    <a:cs typeface="Times New Roman" panose="02020603050405020304" pitchFamily="18" charset="0"/>
                                                  </a:rPr>
                                                  <m:t>𝑟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1800" i="1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Aptos" panose="020B0004020202020204" pitchFamily="34" charset="0"/>
                                                    <a:cs typeface="Times New Roman" panose="02020603050405020304" pitchFamily="18" charset="0"/>
                                                  </a:rPr>
                                                  <m:t>𝜔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en-US" sz="1800">
                                                <a:effectLst/>
                                                <a:latin typeface="Cambria Math" panose="02040503050406030204" pitchFamily="18" charset="0"/>
                                                <a:ea typeface="Aptos" panose="020B0004020202020204" pitchFamily="34" charset="0"/>
                                                <a:cs typeface="Times New Roman" panose="02020603050405020304" pitchFamily="18" charset="0"/>
                                              </a:rPr>
                                              <m:t>∈</m:t>
                                            </m:r>
                                            <m:r>
                                              <a:rPr lang="en-US" sz="18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Aptos" panose="020B0004020202020204" pitchFamily="34" charset="0"/>
                                                <a:cs typeface="Times New Roman" panose="02020603050405020304" pitchFamily="18" charset="0"/>
                                              </a:rPr>
                                              <m:t>𝜙</m:t>
                                            </m:r>
                                            <m:d>
                                              <m:dPr>
                                                <m:ctrlPr>
                                                  <a:rPr lang="en-GB" sz="1800" i="1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Aptos" panose="020B0004020202020204" pitchFamily="34" charset="0"/>
                                                    <a:cs typeface="Times New Roman" panose="020206030504050203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sSub>
                                                  <m:sSubPr>
                                                    <m:ctrlPr>
                                                      <a:rPr lang="en-US" sz="1800" i="1">
                                                        <a:effectLst/>
                                                        <a:latin typeface="Cambria Math" panose="02040503050406030204" pitchFamily="18" charset="0"/>
                                                        <a:ea typeface="Aptos" panose="020B0004020202020204" pitchFamily="34" charset="0"/>
                                                        <a:cs typeface="Times New Roman" panose="020206030504050203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n-US" sz="1800" i="1">
                                                        <a:effectLst/>
                                                        <a:latin typeface="Cambria Math" panose="02040503050406030204" pitchFamily="18" charset="0"/>
                                                        <a:ea typeface="Aptos" panose="020B0004020202020204" pitchFamily="34" charset="0"/>
                                                        <a:cs typeface="Times New Roman" panose="02020603050405020304" pitchFamily="18" charset="0"/>
                                                      </a:rPr>
                                                      <m:t>𝑥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sz="1800" i="1">
                                                        <a:effectLst/>
                                                        <a:latin typeface="Cambria Math" panose="02040503050406030204" pitchFamily="18" charset="0"/>
                                                        <a:ea typeface="Aptos" panose="020B0004020202020204" pitchFamily="34" charset="0"/>
                                                        <a:cs typeface="Times New Roman" panose="02020603050405020304" pitchFamily="18" charset="0"/>
                                                      </a:rPr>
                                                      <m:t>𝑖</m:t>
                                                    </m:r>
                                                  </m:sub>
                                                </m:sSub>
                                              </m:e>
                                            </m:d>
                                            <m:r>
                                              <a:rPr lang="en-US" sz="1800">
                                                <a:effectLst/>
                                                <a:latin typeface="Cambria Math" panose="02040503050406030204" pitchFamily="18" charset="0"/>
                                                <a:ea typeface="Aptos" panose="020B0004020202020204" pitchFamily="34" charset="0"/>
                                                <a:cs typeface="Times New Roman" panose="02020603050405020304" pitchFamily="18" charset="0"/>
                                              </a:rPr>
                                              <m:t>;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lang="en-US" sz="18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Aptos" panose="020B0004020202020204" pitchFamily="34" charset="0"/>
                                                <a:cs typeface="Times New Roman" panose="02020603050405020304" pitchFamily="18" charset="0"/>
                                              </a:rPr>
                                              <m:t>𝑗</m:t>
                                            </m:r>
                                            <m:r>
                                              <a:rPr lang="en-US" sz="1800">
                                                <a:effectLst/>
                                                <a:latin typeface="Cambria Math" panose="02040503050406030204" pitchFamily="18" charset="0"/>
                                                <a:ea typeface="Aptos" panose="020B0004020202020204" pitchFamily="34" charset="0"/>
                                                <a:cs typeface="Times New Roman" panose="02020603050405020304" pitchFamily="18" charset="0"/>
                                              </a:rPr>
                                              <m:t>: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en-US" sz="1800" i="1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Aptos" panose="020B0004020202020204" pitchFamily="34" charset="0"/>
                                                    <a:cs typeface="Times New Roman" panose="020206030504050203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1800" i="1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Aptos" panose="020B0004020202020204" pitchFamily="34" charset="0"/>
                                                    <a:cs typeface="Times New Roman" panose="02020603050405020304" pitchFamily="18" charset="0"/>
                                                  </a:rPr>
                                                  <m:t>𝑝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1800" i="1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Aptos" panose="020B0004020202020204" pitchFamily="34" charset="0"/>
                                                    <a:cs typeface="Times New Roman" panose="02020603050405020304" pitchFamily="18" charset="0"/>
                                                  </a:rPr>
                                                  <m:t>𝑗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en-US" sz="1800">
                                                <a:effectLst/>
                                                <a:latin typeface="Cambria Math" panose="02040503050406030204" pitchFamily="18" charset="0"/>
                                                <a:ea typeface="Aptos" panose="020B0004020202020204" pitchFamily="34" charset="0"/>
                                                <a:cs typeface="Times New Roman" panose="02020603050405020304" pitchFamily="18" charset="0"/>
                                              </a:rPr>
                                              <m:t>∈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en-US" sz="1800" i="1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Aptos" panose="020B0004020202020204" pitchFamily="34" charset="0"/>
                                                    <a:cs typeface="Times New Roman" panose="020206030504050203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1800" i="1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Aptos" panose="020B0004020202020204" pitchFamily="34" charset="0"/>
                                                    <a:cs typeface="Times New Roman" panose="02020603050405020304" pitchFamily="18" charset="0"/>
                                                  </a:rPr>
                                                  <m:t>𝑃</m:t>
                                                </m:r>
                                              </m:e>
                                              <m:sub>
                                                <m:sSub>
                                                  <m:sSubPr>
                                                    <m:ctrlPr>
                                                      <a:rPr lang="en-US" sz="1800" i="1">
                                                        <a:effectLst/>
                                                        <a:latin typeface="Cambria Math" panose="02040503050406030204" pitchFamily="18" charset="0"/>
                                                        <a:ea typeface="Aptos" panose="020B0004020202020204" pitchFamily="34" charset="0"/>
                                                        <a:cs typeface="Times New Roman" panose="020206030504050203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n-US" sz="1800" i="1">
                                                        <a:effectLst/>
                                                        <a:latin typeface="Cambria Math" panose="02040503050406030204" pitchFamily="18" charset="0"/>
                                                        <a:ea typeface="Aptos" panose="020B0004020202020204" pitchFamily="34" charset="0"/>
                                                        <a:cs typeface="Times New Roman" panose="02020603050405020304" pitchFamily="18" charset="0"/>
                                                      </a:rPr>
                                                      <m:t>𝑦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sz="1800" i="1">
                                                        <a:effectLst/>
                                                        <a:latin typeface="Cambria Math" panose="02040503050406030204" pitchFamily="18" charset="0"/>
                                                        <a:ea typeface="Aptos" panose="020B0004020202020204" pitchFamily="34" charset="0"/>
                                                        <a:cs typeface="Times New Roman" panose="02020603050405020304" pitchFamily="18" charset="0"/>
                                                      </a:rPr>
                                                      <m:t>𝑖𝑘</m:t>
                                                    </m:r>
                                                  </m:sub>
                                                </m:sSub>
                                              </m:sub>
                                            </m:sSub>
                                          </m:e>
                                        </m:mr>
                                      </m:m>
                                    </m:e>
                                  </m:box>
                                </m:lim>
                              </m:limLow>
                              <m:r>
                                <a:rPr lang="en-US" sz="18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 </m:t>
                              </m:r>
                              <m:sSubSup>
                                <m:sSubSupPr>
                                  <m:ctrlPr>
                                    <a:rPr lang="en-GB" sz="18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SupPr>
                                <m:e>
                                  <m:d>
                                    <m:dPr>
                                      <m:begChr m:val="∥"/>
                                      <m:endChr m:val="∥"/>
                                      <m:ctrlPr>
                                        <a:rPr lang="en-GB" sz="1800" i="1">
                                          <a:effectLst/>
                                          <a:latin typeface="Cambria Math" panose="02040503050406030204" pitchFamily="18" charset="0"/>
                                          <a:ea typeface="Aptos" panose="020B0004020202020204" pitchFamily="34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800" i="1">
                                              <a:effectLst/>
                                              <a:latin typeface="Cambria Math" panose="02040503050406030204" pitchFamily="18" charset="0"/>
                                              <a:ea typeface="Aptos" panose="020B0004020202020204" pitchFamily="34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800" i="1">
                                              <a:effectLst/>
                                              <a:latin typeface="Cambria Math" panose="02040503050406030204" pitchFamily="18" charset="0"/>
                                              <a:ea typeface="Aptos" panose="020B0004020202020204" pitchFamily="34" charset="0"/>
                                              <a:cs typeface="Times New Roman" panose="02020603050405020304" pitchFamily="18" charset="0"/>
                                            </a:rPr>
                                            <m:t>𝑟</m:t>
                                          </m:r>
                                        </m:e>
                                        <m:sub>
                                          <m:r>
                                            <a:rPr lang="en-US" sz="1800" i="1">
                                              <a:effectLst/>
                                              <a:latin typeface="Cambria Math" panose="02040503050406030204" pitchFamily="18" charset="0"/>
                                              <a:ea typeface="Aptos" panose="020B0004020202020204" pitchFamily="34" charset="0"/>
                                              <a:cs typeface="Times New Roman" panose="02020603050405020304" pitchFamily="18" charset="0"/>
                                            </a:rPr>
                                            <m:t>𝜔</m:t>
                                          </m:r>
                                        </m:sub>
                                      </m:sSub>
                                      <m:r>
                                        <a:rPr lang="en-US" sz="1800" i="1">
                                          <a:effectLst/>
                                          <a:latin typeface="Cambria Math" panose="02040503050406030204" pitchFamily="18" charset="0"/>
                                          <a:ea typeface="Aptos" panose="020B0004020202020204" pitchFamily="34" charset="0"/>
                                          <a:cs typeface="Times New Roman" panose="020206030504050203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sz="1800" i="1">
                                              <a:effectLst/>
                                              <a:latin typeface="Cambria Math" panose="02040503050406030204" pitchFamily="18" charset="0"/>
                                              <a:ea typeface="Aptos" panose="020B0004020202020204" pitchFamily="34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800" i="1">
                                              <a:effectLst/>
                                              <a:latin typeface="Cambria Math" panose="02040503050406030204" pitchFamily="18" charset="0"/>
                                              <a:ea typeface="Aptos" panose="020B0004020202020204" pitchFamily="34" charset="0"/>
                                              <a:cs typeface="Times New Roman" panose="02020603050405020304" pitchFamily="18" charset="0"/>
                                            </a:rPr>
                                            <m:t>𝑝</m:t>
                                          </m:r>
                                        </m:e>
                                        <m:sub>
                                          <m:r>
                                            <a:rPr lang="en-US" sz="1800" i="1">
                                              <a:effectLst/>
                                              <a:latin typeface="Cambria Math" panose="02040503050406030204" pitchFamily="18" charset="0"/>
                                              <a:ea typeface="Aptos" panose="020B0004020202020204" pitchFamily="34" charset="0"/>
                                              <a:cs typeface="Times New Roman" panose="020206030504050203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b>
                                  <m:r>
                                    <a:rPr lang="en-US" sz="1800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US" sz="1800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d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#</m:t>
                          </m:r>
                          <m:d>
                            <m:dPr>
                              <m:ctrlP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4</m:t>
                              </m:r>
                            </m:e>
                          </m:d>
                        </m:e>
                        <m:e>
                          <m:sSub>
                            <m:sSubPr>
                              <m:ctrlP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ℒ</m:t>
                              </m:r>
                            </m:e>
                            <m:sub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𝑠𝑒𝑝</m:t>
                              </m:r>
                            </m:sub>
                          </m:sSub>
                          <m:r>
                            <a:rPr lang="en-US" sz="18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=</m:t>
                          </m:r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18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8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den>
                          </m:f>
                          <m:nary>
                            <m:naryPr>
                              <m:chr m:val="∑"/>
                              <m:limLoc m:val="undOvr"/>
                              <m:grow m:val="on"/>
                              <m:ctrlP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  <m:r>
                                <a:rPr lang="en-US" sz="18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sup>
                            <m:e>
                              <m:r>
                                <a:rPr lang="en-US" sz="18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 </m:t>
                              </m:r>
                            </m:e>
                          </m:nary>
                          <m:r>
                            <a:rPr lang="en-US" sz="18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 </m:t>
                          </m:r>
                          <m:limLow>
                            <m:limLowPr>
                              <m:ctrlPr>
                                <a:rPr lang="en-US" sz="18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18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  <m:r>
                                <a:rPr lang="en-US" sz="18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:</m:t>
                              </m:r>
                              <m:sSub>
                                <m:sSubPr>
                                  <m:ctrlP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sz="18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∉</m:t>
                              </m:r>
                              <m:sSub>
                                <m:sSubPr>
                                  <m:ctrlP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sz="1800" i="1">
                                          <a:effectLst/>
                                          <a:latin typeface="Cambria Math" panose="02040503050406030204" pitchFamily="18" charset="0"/>
                                          <a:ea typeface="Aptos" panose="020B0004020202020204" pitchFamily="34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 i="1">
                                          <a:effectLst/>
                                          <a:latin typeface="Cambria Math" panose="02040503050406030204" pitchFamily="18" charset="0"/>
                                          <a:ea typeface="Aptos" panose="020B0004020202020204" pitchFamily="34" charset="0"/>
                                          <a:cs typeface="Times New Roman" panose="020206030504050203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sz="1800" i="1">
                                          <a:effectLst/>
                                          <a:latin typeface="Cambria Math" panose="02040503050406030204" pitchFamily="18" charset="0"/>
                                          <a:ea typeface="Aptos" panose="020B0004020202020204" pitchFamily="34" charset="0"/>
                                          <a:cs typeface="Times New Roman" panose="02020603050405020304" pitchFamily="18" charset="0"/>
                                        </a:rPr>
                                        <m:t>𝑖𝑘</m:t>
                                      </m:r>
                                    </m:sub>
                                  </m:sSub>
                                </m:sub>
                              </m:sSub>
                            </m:lim>
                          </m:limLow>
                          <m:r>
                            <a:rPr lang="en-US" sz="18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 </m:t>
                          </m:r>
                          <m:limLow>
                            <m:limLowPr>
                              <m:ctrlPr>
                                <a:rPr lang="en-US" sz="18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18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𝑟</m:t>
                              </m:r>
                              <m:r>
                                <a:rPr lang="en-US" sz="18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∈</m:t>
                              </m:r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𝜙</m:t>
                              </m:r>
                              <m:d>
                                <m:dPr>
                                  <m:ctrlPr>
                                    <a:rPr lang="en-GB" sz="18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800" i="1">
                                          <a:effectLst/>
                                          <a:latin typeface="Cambria Math" panose="02040503050406030204" pitchFamily="18" charset="0"/>
                                          <a:ea typeface="Aptos" panose="020B0004020202020204" pitchFamily="34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 i="1">
                                          <a:effectLst/>
                                          <a:latin typeface="Cambria Math" panose="02040503050406030204" pitchFamily="18" charset="0"/>
                                          <a:ea typeface="Aptos" panose="020B0004020202020204" pitchFamily="34" charset="0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1800" i="1">
                                          <a:effectLst/>
                                          <a:latin typeface="Cambria Math" panose="02040503050406030204" pitchFamily="18" charset="0"/>
                                          <a:ea typeface="Aptos" panose="020B0004020202020204" pitchFamily="34" charset="0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lim>
                          </m:limLow>
                          <m:r>
                            <a:rPr lang="en-US" sz="18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 </m:t>
                          </m:r>
                          <m:sSubSup>
                            <m:sSubSupPr>
                              <m:ctrlPr>
                                <a:rPr lang="en-GB" sz="18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d>
                                <m:dPr>
                                  <m:begChr m:val="∥"/>
                                  <m:endChr m:val="∥"/>
                                  <m:ctrlP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𝑟</m:t>
                                  </m:r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1800" i="1">
                                          <a:effectLst/>
                                          <a:latin typeface="Cambria Math" panose="02040503050406030204" pitchFamily="18" charset="0"/>
                                          <a:ea typeface="Aptos" panose="020B0004020202020204" pitchFamily="34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 i="1">
                                          <a:effectLst/>
                                          <a:latin typeface="Cambria Math" panose="02040503050406030204" pitchFamily="18" charset="0"/>
                                          <a:ea typeface="Aptos" panose="020B0004020202020204" pitchFamily="34" charset="0"/>
                                          <a:cs typeface="Times New Roman" panose="020206030504050203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sz="1800" i="1">
                                          <a:effectLst/>
                                          <a:latin typeface="Cambria Math" panose="02040503050406030204" pitchFamily="18" charset="0"/>
                                          <a:ea typeface="Aptos" panose="020B0004020202020204" pitchFamily="34" charset="0"/>
                                          <a:cs typeface="Times New Roman" panose="020206030504050203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b>
                              <m:r>
                                <a:rPr lang="en-US" sz="18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sz="18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#</m:t>
                          </m:r>
                          <m:d>
                            <m:dPr>
                              <m:ctrlP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5</m:t>
                              </m:r>
                            </m:e>
                          </m:d>
                        </m:e>
                      </m:eqArr>
                    </m:oMath>
                  </m:oMathPara>
                </a14:m>
                <a:endParaRPr lang="en-GB" sz="1800" dirty="0">
                  <a:effectLst/>
                  <a:latin typeface="Georgia" panose="02040502050405020303" pitchFamily="18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A39A981-8192-7121-457A-A85C53EA22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0540" y="1490584"/>
                <a:ext cx="4951292" cy="3876831"/>
              </a:xfrm>
              <a:prstGeom prst="rect">
                <a:avLst/>
              </a:prstGeom>
              <a:blipFill>
                <a:blip r:embed="rId4"/>
                <a:stretch>
                  <a:fillRect b="-232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441787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7">
            <a:extLst>
              <a:ext uri="{FF2B5EF4-FFF2-40B4-BE49-F238E27FC236}">
                <a16:creationId xmlns:a16="http://schemas.microsoft.com/office/drawing/2014/main" id="{89A672C5-F6E4-79AD-7B32-355CF4057726}"/>
              </a:ext>
            </a:extLst>
          </p:cNvPr>
          <p:cNvGrpSpPr/>
          <p:nvPr/>
        </p:nvGrpSpPr>
        <p:grpSpPr>
          <a:xfrm>
            <a:off x="-13253" y="6165803"/>
            <a:ext cx="3073252" cy="694360"/>
            <a:chOff x="0" y="76186"/>
            <a:chExt cx="1209363" cy="187566"/>
          </a:xfrm>
        </p:grpSpPr>
        <p:sp>
          <p:nvSpPr>
            <p:cNvPr id="5" name="Freeform 8">
              <a:extLst>
                <a:ext uri="{FF2B5EF4-FFF2-40B4-BE49-F238E27FC236}">
                  <a16:creationId xmlns:a16="http://schemas.microsoft.com/office/drawing/2014/main" id="{0D6E8404-8300-FCB3-0F88-0BFA67046BF5}"/>
                </a:ext>
              </a:extLst>
            </p:cNvPr>
            <p:cNvSpPr/>
            <p:nvPr/>
          </p:nvSpPr>
          <p:spPr>
            <a:xfrm>
              <a:off x="0" y="76186"/>
              <a:ext cx="1204148" cy="187566"/>
            </a:xfrm>
            <a:custGeom>
              <a:avLst/>
              <a:gdLst/>
              <a:ahLst/>
              <a:cxnLst/>
              <a:rect l="l" t="t" r="r" b="b"/>
              <a:pathLst>
                <a:path w="1204148" h="187606">
                  <a:moveTo>
                    <a:pt x="0" y="0"/>
                  </a:moveTo>
                  <a:lnTo>
                    <a:pt x="1204148" y="0"/>
                  </a:lnTo>
                  <a:lnTo>
                    <a:pt x="1204148" y="187606"/>
                  </a:lnTo>
                  <a:lnTo>
                    <a:pt x="0" y="187606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9">
              <a:extLst>
                <a:ext uri="{FF2B5EF4-FFF2-40B4-BE49-F238E27FC236}">
                  <a16:creationId xmlns:a16="http://schemas.microsoft.com/office/drawing/2014/main" id="{9C05C931-C629-A08C-109E-D3DB04E8AF65}"/>
                </a:ext>
              </a:extLst>
            </p:cNvPr>
            <p:cNvSpPr txBox="1"/>
            <p:nvPr/>
          </p:nvSpPr>
          <p:spPr>
            <a:xfrm>
              <a:off x="5215" y="76420"/>
              <a:ext cx="1204148" cy="1796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94"/>
                </a:lnSpc>
              </a:pPr>
              <a:r>
                <a:rPr lang="en-US" sz="2567" dirty="0">
                  <a:solidFill>
                    <a:srgbClr val="000000"/>
                  </a:solidFill>
                  <a:latin typeface="Canva Sans Bold"/>
                </a:rPr>
                <a:t>Introduction</a:t>
              </a:r>
            </a:p>
          </p:txBody>
        </p:sp>
      </p:grpSp>
      <p:grpSp>
        <p:nvGrpSpPr>
          <p:cNvPr id="16" name="Group 7">
            <a:extLst>
              <a:ext uri="{FF2B5EF4-FFF2-40B4-BE49-F238E27FC236}">
                <a16:creationId xmlns:a16="http://schemas.microsoft.com/office/drawing/2014/main" id="{A17BB610-8050-D126-6AAE-3FAB244ABEDD}"/>
              </a:ext>
            </a:extLst>
          </p:cNvPr>
          <p:cNvGrpSpPr/>
          <p:nvPr/>
        </p:nvGrpSpPr>
        <p:grpSpPr>
          <a:xfrm>
            <a:off x="3044795" y="6165801"/>
            <a:ext cx="3060000" cy="694360"/>
            <a:chOff x="0" y="76186"/>
            <a:chExt cx="1204148" cy="187566"/>
          </a:xfrm>
        </p:grpSpPr>
        <p:sp>
          <p:nvSpPr>
            <p:cNvPr id="17" name="Freeform 8">
              <a:extLst>
                <a:ext uri="{FF2B5EF4-FFF2-40B4-BE49-F238E27FC236}">
                  <a16:creationId xmlns:a16="http://schemas.microsoft.com/office/drawing/2014/main" id="{58EDED6B-4A54-9C8E-806C-A7AB911E0AD3}"/>
                </a:ext>
              </a:extLst>
            </p:cNvPr>
            <p:cNvSpPr/>
            <p:nvPr/>
          </p:nvSpPr>
          <p:spPr>
            <a:xfrm>
              <a:off x="0" y="76186"/>
              <a:ext cx="1204148" cy="187566"/>
            </a:xfrm>
            <a:custGeom>
              <a:avLst/>
              <a:gdLst/>
              <a:ahLst/>
              <a:cxnLst/>
              <a:rect l="l" t="t" r="r" b="b"/>
              <a:pathLst>
                <a:path w="1204148" h="187606">
                  <a:moveTo>
                    <a:pt x="0" y="0"/>
                  </a:moveTo>
                  <a:lnTo>
                    <a:pt x="1204148" y="0"/>
                  </a:lnTo>
                  <a:lnTo>
                    <a:pt x="1204148" y="187606"/>
                  </a:lnTo>
                  <a:lnTo>
                    <a:pt x="0" y="187606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9">
              <a:extLst>
                <a:ext uri="{FF2B5EF4-FFF2-40B4-BE49-F238E27FC236}">
                  <a16:creationId xmlns:a16="http://schemas.microsoft.com/office/drawing/2014/main" id="{53032331-CF2A-A2BF-E9BE-0662C7EBA8C4}"/>
                </a:ext>
              </a:extLst>
            </p:cNvPr>
            <p:cNvSpPr txBox="1"/>
            <p:nvPr/>
          </p:nvSpPr>
          <p:spPr>
            <a:xfrm>
              <a:off x="11198" y="79766"/>
              <a:ext cx="1184875" cy="179895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94"/>
                </a:lnSpc>
              </a:pPr>
              <a:r>
                <a:rPr lang="en-US" sz="2800" dirty="0">
                  <a:solidFill>
                    <a:srgbClr val="000000"/>
                  </a:solidFill>
                  <a:latin typeface="Canva Sans Bold"/>
                </a:rPr>
                <a:t>Proposed Model</a:t>
              </a:r>
              <a:endParaRPr lang="en-US" sz="2567" dirty="0">
                <a:solidFill>
                  <a:srgbClr val="000000"/>
                </a:solidFill>
                <a:latin typeface="Canva Sans Bold"/>
              </a:endParaRPr>
            </a:p>
          </p:txBody>
        </p:sp>
      </p:grpSp>
      <p:grpSp>
        <p:nvGrpSpPr>
          <p:cNvPr id="19" name="Group 7">
            <a:extLst>
              <a:ext uri="{FF2B5EF4-FFF2-40B4-BE49-F238E27FC236}">
                <a16:creationId xmlns:a16="http://schemas.microsoft.com/office/drawing/2014/main" id="{C09A1B73-62BE-BC89-70FF-9B0B937E05D0}"/>
              </a:ext>
            </a:extLst>
          </p:cNvPr>
          <p:cNvGrpSpPr/>
          <p:nvPr/>
        </p:nvGrpSpPr>
        <p:grpSpPr>
          <a:xfrm>
            <a:off x="6097528" y="6165800"/>
            <a:ext cx="3060000" cy="694360"/>
            <a:chOff x="0" y="76186"/>
            <a:chExt cx="1204148" cy="187566"/>
          </a:xfrm>
        </p:grpSpPr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25A1ECF2-D0B4-3FAA-8CBE-242E3FC97359}"/>
                </a:ext>
              </a:extLst>
            </p:cNvPr>
            <p:cNvSpPr/>
            <p:nvPr/>
          </p:nvSpPr>
          <p:spPr>
            <a:xfrm>
              <a:off x="0" y="76186"/>
              <a:ext cx="1204148" cy="187566"/>
            </a:xfrm>
            <a:custGeom>
              <a:avLst/>
              <a:gdLst/>
              <a:ahLst/>
              <a:cxnLst/>
              <a:rect l="l" t="t" r="r" b="b"/>
              <a:pathLst>
                <a:path w="1204148" h="187606">
                  <a:moveTo>
                    <a:pt x="0" y="0"/>
                  </a:moveTo>
                  <a:lnTo>
                    <a:pt x="1204148" y="0"/>
                  </a:lnTo>
                  <a:lnTo>
                    <a:pt x="1204148" y="187606"/>
                  </a:lnTo>
                  <a:lnTo>
                    <a:pt x="0" y="187606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9">
              <a:extLst>
                <a:ext uri="{FF2B5EF4-FFF2-40B4-BE49-F238E27FC236}">
                  <a16:creationId xmlns:a16="http://schemas.microsoft.com/office/drawing/2014/main" id="{831FE57D-DB50-F8F8-ECF0-0EC1FDE4A8AF}"/>
                </a:ext>
              </a:extLst>
            </p:cNvPr>
            <p:cNvSpPr txBox="1"/>
            <p:nvPr/>
          </p:nvSpPr>
          <p:spPr>
            <a:xfrm>
              <a:off x="8075" y="80000"/>
              <a:ext cx="1186796" cy="179661"/>
            </a:xfrm>
            <a:prstGeom prst="rect">
              <a:avLst/>
            </a:prstGeom>
            <a:no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94"/>
                </a:lnSpc>
              </a:pPr>
              <a:r>
                <a:rPr lang="en-US" sz="2800" dirty="0">
                  <a:solidFill>
                    <a:srgbClr val="000000"/>
                  </a:solidFill>
                  <a:latin typeface="Canva Sans Bold"/>
                </a:rPr>
                <a:t>Experiments</a:t>
              </a:r>
            </a:p>
          </p:txBody>
        </p:sp>
      </p:grpSp>
      <p:grpSp>
        <p:nvGrpSpPr>
          <p:cNvPr id="22" name="Group 7">
            <a:extLst>
              <a:ext uri="{FF2B5EF4-FFF2-40B4-BE49-F238E27FC236}">
                <a16:creationId xmlns:a16="http://schemas.microsoft.com/office/drawing/2014/main" id="{373F4254-8C51-E833-9E7D-D890E2F70458}"/>
              </a:ext>
            </a:extLst>
          </p:cNvPr>
          <p:cNvGrpSpPr/>
          <p:nvPr/>
        </p:nvGrpSpPr>
        <p:grpSpPr>
          <a:xfrm>
            <a:off x="9150262" y="6165801"/>
            <a:ext cx="3060000" cy="694360"/>
            <a:chOff x="0" y="76186"/>
            <a:chExt cx="1204148" cy="187566"/>
          </a:xfrm>
        </p:grpSpPr>
        <p:sp>
          <p:nvSpPr>
            <p:cNvPr id="23" name="Freeform 8">
              <a:extLst>
                <a:ext uri="{FF2B5EF4-FFF2-40B4-BE49-F238E27FC236}">
                  <a16:creationId xmlns:a16="http://schemas.microsoft.com/office/drawing/2014/main" id="{AB9464F5-FD2C-05B6-4CD4-C2772008B521}"/>
                </a:ext>
              </a:extLst>
            </p:cNvPr>
            <p:cNvSpPr/>
            <p:nvPr/>
          </p:nvSpPr>
          <p:spPr>
            <a:xfrm>
              <a:off x="0" y="76186"/>
              <a:ext cx="1204148" cy="187566"/>
            </a:xfrm>
            <a:custGeom>
              <a:avLst/>
              <a:gdLst/>
              <a:ahLst/>
              <a:cxnLst/>
              <a:rect l="l" t="t" r="r" b="b"/>
              <a:pathLst>
                <a:path w="1204148" h="187606">
                  <a:moveTo>
                    <a:pt x="0" y="0"/>
                  </a:moveTo>
                  <a:lnTo>
                    <a:pt x="1204148" y="0"/>
                  </a:lnTo>
                  <a:lnTo>
                    <a:pt x="1204148" y="187606"/>
                  </a:lnTo>
                  <a:lnTo>
                    <a:pt x="0" y="187606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9">
              <a:extLst>
                <a:ext uri="{FF2B5EF4-FFF2-40B4-BE49-F238E27FC236}">
                  <a16:creationId xmlns:a16="http://schemas.microsoft.com/office/drawing/2014/main" id="{8E9B77B5-E3A2-E2C5-DE84-804DE48C8576}"/>
                </a:ext>
              </a:extLst>
            </p:cNvPr>
            <p:cNvSpPr txBox="1"/>
            <p:nvPr/>
          </p:nvSpPr>
          <p:spPr>
            <a:xfrm>
              <a:off x="8074" y="80000"/>
              <a:ext cx="1188888" cy="179661"/>
            </a:xfrm>
            <a:prstGeom prst="rect">
              <a:avLst/>
            </a:prstGeom>
            <a:no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94"/>
                </a:lnSpc>
              </a:pPr>
              <a:r>
                <a:rPr lang="en-US" sz="2800" dirty="0">
                  <a:solidFill>
                    <a:srgbClr val="000000"/>
                  </a:solidFill>
                  <a:latin typeface="Canva Sans Bold"/>
                </a:rPr>
                <a:t>Conclusion</a:t>
              </a:r>
              <a:endParaRPr lang="en-US" sz="2567" dirty="0">
                <a:solidFill>
                  <a:srgbClr val="000000"/>
                </a:solidFill>
                <a:latin typeface="Canva Sans Bold"/>
              </a:endParaRPr>
            </a:p>
          </p:txBody>
        </p:sp>
      </p:grp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AC61C8-5F7B-B8D3-D010-F5A9D4871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05727" y="6435862"/>
            <a:ext cx="2743200" cy="365125"/>
          </a:xfrm>
        </p:spPr>
        <p:txBody>
          <a:bodyPr/>
          <a:lstStyle/>
          <a:p>
            <a:fld id="{ABD39697-445C-5345-9B8B-DB9988CAA513}" type="slidenum">
              <a:rPr lang="en-US" smtClean="0"/>
              <a:t>8</a:t>
            </a:fld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2BB271F-20AA-8E04-945E-3C80220E631F}"/>
              </a:ext>
            </a:extLst>
          </p:cNvPr>
          <p:cNvSpPr txBox="1"/>
          <p:nvPr/>
        </p:nvSpPr>
        <p:spPr>
          <a:xfrm>
            <a:off x="1000540" y="665921"/>
            <a:ext cx="24111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GB" b="1" dirty="0"/>
              <a:t>Faithfulness score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1C629B1-B5D5-009E-6272-728C663205DC}"/>
                  </a:ext>
                </a:extLst>
              </p:cNvPr>
              <p:cNvSpPr txBox="1"/>
              <p:nvPr/>
            </p:nvSpPr>
            <p:spPr>
              <a:xfrm>
                <a:off x="1000540" y="1186542"/>
                <a:ext cx="9337941" cy="19566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m>
                        <m:mPr>
                          <m:plcHide m:val="on"/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lang="en-GB" sz="1800" i="1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mPr>
                        <m:mr>
                          <m:e>
                            <m:sSub>
                              <m:sSubPr>
                                <m:ctrlPr>
                                  <a:rPr lang="en-US" sz="1800" i="1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sz="1800" i="1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  <m:t>𝑘</m:t>
                                </m:r>
                              </m:sub>
                            </m:sSub>
                            <m:r>
                              <a:rPr lang="en-US" sz="180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  <m:t>=</m:t>
                            </m:r>
                          </m:e>
                          <m:e>
                            <m:f>
                              <m:fPr>
                                <m:ctrlPr>
                                  <a:rPr lang="en-US" sz="1800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1800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num>
                              <m:den>
                                <m:sSub>
                                  <m:sSubPr>
                                    <m:ctrlPr>
                                      <a:rPr lang="en-US" sz="1800" i="1">
                                        <a:effectLst/>
                                        <a:latin typeface="Cambria Math" panose="02040503050406030204" pitchFamily="18" charset="0"/>
                                        <a:ea typeface="Aptos" panose="020B000402020202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i="1">
                                        <a:effectLst/>
                                        <a:latin typeface="Cambria Math" panose="02040503050406030204" pitchFamily="18" charset="0"/>
                                        <a:ea typeface="Aptos" panose="020B0004020202020204" pitchFamily="34" charset="0"/>
                                        <a:cs typeface="Times New Roman" panose="020206030504050203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US" sz="1800" i="1">
                                        <a:effectLst/>
                                        <a:latin typeface="Cambria Math" panose="02040503050406030204" pitchFamily="18" charset="0"/>
                                        <a:ea typeface="Aptos" panose="020B0004020202020204" pitchFamily="34" charset="0"/>
                                        <a:cs typeface="Times New Roman" panose="020206030504050203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den>
                            </m:f>
                            <m:d>
                              <m:dPr>
                                <m:endChr m:val=""/>
                                <m:ctrlPr>
                                  <a:rPr lang="en-US" sz="1800" i="1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800" i="1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  <m:t>𝑓</m:t>
                                </m:r>
                                <m:d>
                                  <m:dPr>
                                    <m:ctrlPr>
                                      <a:rPr lang="en-GB" sz="1800" i="1">
                                        <a:effectLst/>
                                        <a:latin typeface="Cambria Math" panose="02040503050406030204" pitchFamily="18" charset="0"/>
                                        <a:ea typeface="Aptos" panose="020B000402020202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1800" b="1" i="1">
                                            <a:effectLst/>
                                            <a:latin typeface="Cambria Math" panose="02040503050406030204" pitchFamily="18" charset="0"/>
                                            <a:ea typeface="Aptos" panose="020B0004020202020204" pitchFamily="34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800" b="1" i="1">
                                            <a:effectLst/>
                                            <a:latin typeface="Cambria Math" panose="02040503050406030204" pitchFamily="18" charset="0"/>
                                            <a:ea typeface="Aptos" panose="020B0004020202020204" pitchFamily="34" charset="0"/>
                                            <a:cs typeface="Times New Roman" panose="02020603050405020304" pitchFamily="18" charset="0"/>
                                          </a:rPr>
                                          <m:t>𝐥</m:t>
                                        </m:r>
                                      </m:e>
                                      <m:sub>
                                        <m:r>
                                          <a:rPr lang="en-US" sz="1800">
                                            <a:effectLst/>
                                            <a:latin typeface="Cambria Math" panose="02040503050406030204" pitchFamily="18" charset="0"/>
                                            <a:ea typeface="Aptos" panose="020B0004020202020204" pitchFamily="34" charset="0"/>
                                            <a:cs typeface="Times New Roman" panose="020206030504050203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en-US" sz="1800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  <m:t>⋅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1800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  <m:t>max</m:t>
                                </m:r>
                                <m:d>
                                  <m:dPr>
                                    <m:ctrlPr>
                                      <a:rPr lang="en-GB" sz="1800" i="1">
                                        <a:effectLst/>
                                        <a:latin typeface="Cambria Math" panose="02040503050406030204" pitchFamily="18" charset="0"/>
                                        <a:ea typeface="Aptos" panose="020B000402020202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1800" b="1" i="1">
                                            <a:effectLst/>
                                            <a:latin typeface="Cambria Math" panose="02040503050406030204" pitchFamily="18" charset="0"/>
                                            <a:ea typeface="Aptos" panose="020B0004020202020204" pitchFamily="34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800" b="1" i="1">
                                            <a:effectLst/>
                                            <a:latin typeface="Cambria Math" panose="02040503050406030204" pitchFamily="18" charset="0"/>
                                            <a:ea typeface="Aptos" panose="020B0004020202020204" pitchFamily="34" charset="0"/>
                                            <a:cs typeface="Times New Roman" panose="02020603050405020304" pitchFamily="18" charset="0"/>
                                          </a:rPr>
                                          <m:t>𝐥</m:t>
                                        </m:r>
                                      </m:e>
                                      <m:sub>
                                        <m:r>
                                          <a:rPr lang="en-US" sz="1800">
                                            <a:effectLst/>
                                            <a:latin typeface="Cambria Math" panose="02040503050406030204" pitchFamily="18" charset="0"/>
                                            <a:ea typeface="Aptos" panose="020B0004020202020204" pitchFamily="34" charset="0"/>
                                            <a:cs typeface="Times New Roman" panose="020206030504050203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en-US" sz="1800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  <m:t>+</m:t>
                                </m:r>
                                <m:r>
                                  <a:rPr lang="en-US" sz="1800" i="1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  <m:t>𝑓</m:t>
                                </m:r>
                                <m:d>
                                  <m:dPr>
                                    <m:ctrlPr>
                                      <a:rPr lang="en-GB" sz="1800" i="1">
                                        <a:effectLst/>
                                        <a:latin typeface="Cambria Math" panose="02040503050406030204" pitchFamily="18" charset="0"/>
                                        <a:ea typeface="Aptos" panose="020B000402020202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1800" b="1" i="1">
                                            <a:effectLst/>
                                            <a:latin typeface="Cambria Math" panose="02040503050406030204" pitchFamily="18" charset="0"/>
                                            <a:ea typeface="Aptos" panose="020B0004020202020204" pitchFamily="34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800" b="1" i="1">
                                            <a:effectLst/>
                                            <a:latin typeface="Cambria Math" panose="02040503050406030204" pitchFamily="18" charset="0"/>
                                            <a:ea typeface="Aptos" panose="020B0004020202020204" pitchFamily="34" charset="0"/>
                                            <a:cs typeface="Times New Roman" panose="02020603050405020304" pitchFamily="18" charset="0"/>
                                          </a:rPr>
                                          <m:t>𝐥</m:t>
                                        </m:r>
                                      </m:e>
                                      <m:sub>
                                        <m:r>
                                          <a:rPr lang="en-US" sz="1800">
                                            <a:effectLst/>
                                            <a:latin typeface="Cambria Math" panose="02040503050406030204" pitchFamily="18" charset="0"/>
                                            <a:ea typeface="Aptos" panose="020B0004020202020204" pitchFamily="34" charset="0"/>
                                            <a:cs typeface="Times New Roman" panose="020206030504050203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en-US" sz="1800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  <m:t>⋅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1800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  <m:t>max</m:t>
                                </m:r>
                                <m:d>
                                  <m:dPr>
                                    <m:ctrlPr>
                                      <a:rPr lang="en-GB" sz="1800" i="1">
                                        <a:effectLst/>
                                        <a:latin typeface="Cambria Math" panose="02040503050406030204" pitchFamily="18" charset="0"/>
                                        <a:ea typeface="Aptos" panose="020B000402020202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1800" b="1" i="1">
                                            <a:effectLst/>
                                            <a:latin typeface="Cambria Math" panose="02040503050406030204" pitchFamily="18" charset="0"/>
                                            <a:ea typeface="Aptos" panose="020B0004020202020204" pitchFamily="34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800" b="1" i="1">
                                            <a:effectLst/>
                                            <a:latin typeface="Cambria Math" panose="02040503050406030204" pitchFamily="18" charset="0"/>
                                            <a:ea typeface="Aptos" panose="020B0004020202020204" pitchFamily="34" charset="0"/>
                                            <a:cs typeface="Times New Roman" panose="02020603050405020304" pitchFamily="18" charset="0"/>
                                          </a:rPr>
                                          <m:t>𝐥</m:t>
                                        </m:r>
                                      </m:e>
                                      <m:sub>
                                        <m:r>
                                          <a:rPr lang="en-US" sz="1800">
                                            <a:effectLst/>
                                            <a:latin typeface="Cambria Math" panose="02040503050406030204" pitchFamily="18" charset="0"/>
                                            <a:ea typeface="Aptos" panose="020B0004020202020204" pitchFamily="34" charset="0"/>
                                            <a:cs typeface="Times New Roman" panose="020206030504050203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en-US" sz="1800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  <m:t>+</m:t>
                                </m:r>
                                <m:r>
                                  <a:rPr lang="en-GB" sz="1800" b="0" i="1" smtClean="0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  <m:t>…+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  <m:t>𝑓</m:t>
                                </m:r>
                                <m:d>
                                  <m:dPr>
                                    <m:ctrlPr>
                                      <a:rPr lang="en-GB" i="1">
                                        <a:latin typeface="Cambria Math" panose="02040503050406030204" pitchFamily="18" charset="0"/>
                                        <a:ea typeface="Aptos" panose="020B000402020202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b="1" i="1">
                                            <a:latin typeface="Cambria Math" panose="02040503050406030204" pitchFamily="18" charset="0"/>
                                            <a:ea typeface="Aptos" panose="020B0004020202020204" pitchFamily="34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1" i="1">
                                            <a:latin typeface="Cambria Math" panose="02040503050406030204" pitchFamily="18" charset="0"/>
                                            <a:ea typeface="Aptos" panose="020B0004020202020204" pitchFamily="34" charset="0"/>
                                            <a:cs typeface="Times New Roman" panose="02020603050405020304" pitchFamily="18" charset="0"/>
                                          </a:rPr>
                                          <m:t>𝐥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sty m:val="p"/>
                                          </m:rPr>
                                          <a:rPr lang="en-GB" b="0" i="0" smtClean="0">
                                            <a:latin typeface="Cambria Math" panose="02040503050406030204" pitchFamily="18" charset="0"/>
                                            <a:ea typeface="Aptos" panose="020B0004020202020204" pitchFamily="34" charset="0"/>
                                            <a:cs typeface="Times New Roman" panose="02020603050405020304" pitchFamily="18" charset="0"/>
                                          </a:rPr>
                                          <m:t>zk</m:t>
                                        </m:r>
                                        <m:r>
                                          <a:rPr lang="en-GB" b="0" i="0" smtClean="0">
                                            <a:latin typeface="Cambria Math" panose="02040503050406030204" pitchFamily="18" charset="0"/>
                                            <a:ea typeface="Aptos" panose="020B0004020202020204" pitchFamily="34" charset="0"/>
                                            <a:cs typeface="Times New Roman" panose="02020603050405020304" pitchFamily="18" charset="0"/>
                                          </a:rPr>
                                          <m:t>−1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en-US"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  <m:t>⋅</m:t>
                                </m:r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  <m:t>max</m:t>
                                </m:r>
                                <m:d>
                                  <m:dPr>
                                    <m:ctrlPr>
                                      <a:rPr lang="en-GB" i="1">
                                        <a:latin typeface="Cambria Math" panose="02040503050406030204" pitchFamily="18" charset="0"/>
                                        <a:ea typeface="Aptos" panose="020B000402020202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b="1" i="1">
                                            <a:latin typeface="Cambria Math" panose="02040503050406030204" pitchFamily="18" charset="0"/>
                                            <a:ea typeface="Aptos" panose="020B0004020202020204" pitchFamily="34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1" i="1">
                                            <a:latin typeface="Cambria Math" panose="02040503050406030204" pitchFamily="18" charset="0"/>
                                            <a:ea typeface="Aptos" panose="020B0004020202020204" pitchFamily="34" charset="0"/>
                                            <a:cs typeface="Times New Roman" panose="02020603050405020304" pitchFamily="18" charset="0"/>
                                          </a:rPr>
                                          <m:t>𝐥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sty m:val="p"/>
                                          </m:rPr>
                                          <a:rPr lang="en-GB" b="0" i="0" smtClean="0">
                                            <a:latin typeface="Cambria Math" panose="02040503050406030204" pitchFamily="18" charset="0"/>
                                            <a:ea typeface="Aptos" panose="020B0004020202020204" pitchFamily="34" charset="0"/>
                                            <a:cs typeface="Times New Roman" panose="02020603050405020304" pitchFamily="18" charset="0"/>
                                          </a:rPr>
                                          <m:t>zk</m:t>
                                        </m:r>
                                        <m:r>
                                          <a:rPr lang="en-GB" b="0" i="0" smtClean="0">
                                            <a:latin typeface="Cambria Math" panose="02040503050406030204" pitchFamily="18" charset="0"/>
                                            <a:ea typeface="Aptos" panose="020B0004020202020204" pitchFamily="34" charset="0"/>
                                            <a:cs typeface="Times New Roman" panose="02020603050405020304" pitchFamily="18" charset="0"/>
                                          </a:rPr>
                                          <m:t>−1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en-US"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  <m:t>+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  <m:t>𝑓</m:t>
                                </m:r>
                                <m:d>
                                  <m:dPr>
                                    <m:ctrlPr>
                                      <a:rPr lang="en-GB" i="1">
                                        <a:latin typeface="Cambria Math" panose="02040503050406030204" pitchFamily="18" charset="0"/>
                                        <a:ea typeface="Aptos" panose="020B000402020202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b="1" i="1">
                                            <a:latin typeface="Cambria Math" panose="02040503050406030204" pitchFamily="18" charset="0"/>
                                            <a:ea typeface="Aptos" panose="020B0004020202020204" pitchFamily="34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1" i="1">
                                            <a:latin typeface="Cambria Math" panose="02040503050406030204" pitchFamily="18" charset="0"/>
                                            <a:ea typeface="Aptos" panose="020B0004020202020204" pitchFamily="34" charset="0"/>
                                            <a:cs typeface="Times New Roman" panose="02020603050405020304" pitchFamily="18" charset="0"/>
                                          </a:rPr>
                                          <m:t>𝐥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sty m:val="p"/>
                                          </m:rPr>
                                          <a:rPr lang="en-GB" b="0" i="0" smtClean="0">
                                            <a:latin typeface="Cambria Math" panose="02040503050406030204" pitchFamily="18" charset="0"/>
                                            <a:ea typeface="Aptos" panose="020B0004020202020204" pitchFamily="34" charset="0"/>
                                            <a:cs typeface="Times New Roman" panose="02020603050405020304" pitchFamily="18" charset="0"/>
                                          </a:rPr>
                                          <m:t>zk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en-US"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  <m:t>⋅</m:t>
                                </m:r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  <m:t>max</m:t>
                                </m:r>
                                <m:d>
                                  <m:dPr>
                                    <m:ctrlPr>
                                      <a:rPr lang="en-GB" i="1">
                                        <a:latin typeface="Cambria Math" panose="02040503050406030204" pitchFamily="18" charset="0"/>
                                        <a:ea typeface="Aptos" panose="020B000402020202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b="1" i="1">
                                            <a:latin typeface="Cambria Math" panose="02040503050406030204" pitchFamily="18" charset="0"/>
                                            <a:ea typeface="Aptos" panose="020B0004020202020204" pitchFamily="34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1" i="1">
                                            <a:latin typeface="Cambria Math" panose="02040503050406030204" pitchFamily="18" charset="0"/>
                                            <a:ea typeface="Aptos" panose="020B0004020202020204" pitchFamily="34" charset="0"/>
                                            <a:cs typeface="Times New Roman" panose="02020603050405020304" pitchFamily="18" charset="0"/>
                                          </a:rPr>
                                          <m:t>𝐥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sty m:val="p"/>
                                          </m:rPr>
                                          <a:rPr lang="en-GB" b="0" i="0" smtClean="0">
                                            <a:latin typeface="Cambria Math" panose="02040503050406030204" pitchFamily="18" charset="0"/>
                                            <a:ea typeface="Aptos" panose="020B0004020202020204" pitchFamily="34" charset="0"/>
                                            <a:cs typeface="Times New Roman" panose="02020603050405020304" pitchFamily="18" charset="0"/>
                                          </a:rPr>
                                          <m:t>zk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d>
                          </m:e>
                        </m:mr>
                      </m:m>
                    </m:oMath>
                  </m:oMathPara>
                </a14:m>
                <a:endParaRPr lang="en-GB" sz="1800" dirty="0">
                  <a:effectLst/>
                  <a:latin typeface="Georgia" panose="02040502050405020303" pitchFamily="18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endParaRPr lang="en-GB" dirty="0">
                  <a:latin typeface="Georgia" panose="02040502050405020303" pitchFamily="18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r>
                  <a:rPr lang="en-GB" sz="1600" dirty="0">
                    <a:effectLst/>
                    <a:latin typeface="Georgia" panose="02040502050405020303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Where,	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𝑧</m:t>
                        </m:r>
                      </m:e>
                      <m:sub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GB" sz="1600" dirty="0">
                    <a:effectLst/>
                    <a:latin typeface="Georgia" panose="02040502050405020303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- number of test images of clas</a:t>
                </a:r>
                <a:r>
                  <a:rPr lang="en-GB" sz="1600" dirty="0">
                    <a:latin typeface="Georgia" panose="02040502050405020303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s k</a:t>
                </a:r>
              </a:p>
              <a:p>
                <a:r>
                  <a:rPr lang="en-GB" sz="1600" dirty="0">
                    <a:effectLst/>
                    <a:latin typeface="Georgia" panose="02040502050405020303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	</a:t>
                </a:r>
                <a:r>
                  <a:rPr lang="en-GB" sz="1600" dirty="0">
                    <a:effectLst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600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𝐥</m:t>
                        </m:r>
                      </m:e>
                      <m:sub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sz="16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=</m:t>
                    </m:r>
                  </m:oMath>
                </a14:m>
                <a:r>
                  <a:rPr lang="en-US" sz="1600" dirty="0">
                    <a:effectLst/>
                    <a:latin typeface="Georgia" panose="02040502050405020303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GB" sz="1600" i="1"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  <m:r>
                              <a:rPr lang="en-US" sz="160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6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  <m:r>
                              <a:rPr lang="en-US" sz="160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16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,⋯,</m:t>
                        </m:r>
                        <m:sSub>
                          <m:sSubPr>
                            <m:ctrlP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  <m:t>𝑖𝐾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1600" dirty="0">
                    <a:effectLst/>
                    <a:latin typeface="Georgia" panose="02040502050405020303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- set of </a:t>
                </a:r>
                <a14:m>
                  <m:oMath xmlns:m="http://schemas.openxmlformats.org/officeDocument/2006/math"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𝐾</m:t>
                    </m:r>
                  </m:oMath>
                </a14:m>
                <a:r>
                  <a:rPr lang="en-US" sz="1600" dirty="0">
                    <a:effectLst/>
                    <a:latin typeface="Georgia" panose="02040502050405020303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logits for the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𝑖</m:t>
                        </m:r>
                      </m:e>
                      <m:sup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𝑡ℎ</m:t>
                        </m:r>
                      </m:sup>
                    </m:sSup>
                  </m:oMath>
                </a14:m>
                <a:r>
                  <a:rPr lang="en-US" sz="1600" dirty="0">
                    <a:effectLst/>
                    <a:latin typeface="Georgia" panose="02040502050405020303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test image</a:t>
                </a:r>
                <a:r>
                  <a:rPr lang="en-GB" sz="1600" dirty="0">
                    <a:effectLst/>
                  </a:rPr>
                  <a:t> </a:t>
                </a:r>
              </a:p>
              <a:p>
                <a:r>
                  <a:rPr lang="en-GB" sz="1600" dirty="0">
                    <a:latin typeface="Georgia" panose="02040502050405020303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	</a:t>
                </a:r>
                <a:r>
                  <a:rPr lang="en-US" sz="1600" dirty="0">
                    <a:effectLst/>
                    <a:ea typeface="Aptos" panose="020B0004020202020204" pitchFamily="34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𝑓</m:t>
                    </m:r>
                    <m:r>
                      <a:rPr lang="en-US" sz="16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(⋅)</m:t>
                    </m:r>
                  </m:oMath>
                </a14:m>
                <a:r>
                  <a:rPr lang="en-US" sz="1600" dirty="0">
                    <a:effectLst/>
                    <a:latin typeface="Georgia" panose="02040502050405020303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GB" sz="1600" dirty="0">
                    <a:latin typeface="Georgia" panose="02040502050405020303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= 1 (if correctly classified) otherwise -1</a:t>
                </a:r>
                <a:endParaRPr lang="en-GB" sz="1600" dirty="0">
                  <a:effectLst/>
                  <a:latin typeface="Georgia" panose="02040502050405020303" pitchFamily="18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1C629B1-B5D5-009E-6272-728C663205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0540" y="1186542"/>
                <a:ext cx="9337941" cy="1956626"/>
              </a:xfrm>
              <a:prstGeom prst="rect">
                <a:avLst/>
              </a:prstGeom>
              <a:blipFill>
                <a:blip r:embed="rId2"/>
                <a:stretch>
                  <a:fillRect l="-271" t="-148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4D826C1-E45B-9A3A-C908-7A74EDD9E53C}"/>
                  </a:ext>
                </a:extLst>
              </p:cNvPr>
              <p:cNvSpPr txBox="1"/>
              <p:nvPr/>
            </p:nvSpPr>
            <p:spPr>
              <a:xfrm>
                <a:off x="2008505" y="3295679"/>
                <a:ext cx="2295138" cy="4191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𝑙</m:t>
                        </m:r>
                      </m:e>
                      <m:sub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𝑖𝐾</m:t>
                        </m:r>
                      </m:sub>
                    </m:sSub>
                  </m:oMath>
                </a14:m>
                <a:r>
                  <a:rPr lang="en-US" dirty="0"/>
                  <a:t> =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grow m:val="on"/>
                        <m:ctrlPr>
                          <a:rPr lang="en-GB" b="0" i="0" smtClean="0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  <m:brk/>
                            <m:aln/>
                          </m:rPr>
                          <a:rPr lang="en-GB" b="0" i="0" smtClean="0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j</m:t>
                        </m:r>
                        <m:r>
                          <a:rPr lang="en-US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=1</m:t>
                        </m:r>
                      </m:sub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𝑀</m:t>
                        </m:r>
                      </m:sup>
                      <m:e>
                        <m:r>
                          <a:rPr lang="en-US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 </m:t>
                        </m:r>
                      </m:e>
                    </m:nary>
                    <m:r>
                      <a:rPr lang="en-US"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 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𝑠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.  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𝑤ℎ</m:t>
                    </m:r>
                    <m:d>
                      <m:dPr>
                        <m:ctrlPr>
                          <a:rPr lang="en-GB" b="0" i="1" baseline="30000" smtClean="0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GB" b="0" i="1" baseline="30000" smtClean="0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𝑗</m:t>
                        </m:r>
                        <m:r>
                          <a:rPr lang="en-GB" b="0" i="1" baseline="30000" smtClean="0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GB" b="0" i="1" baseline="30000" smtClean="0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𝑘</m:t>
                        </m:r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4D826C1-E45B-9A3A-C908-7A74EDD9E5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8505" y="3295679"/>
                <a:ext cx="2295138" cy="419154"/>
              </a:xfrm>
              <a:prstGeom prst="rect">
                <a:avLst/>
              </a:prstGeom>
              <a:blipFill>
                <a:blip r:embed="rId3"/>
                <a:stretch>
                  <a:fillRect t="-94118" b="-1382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1738681-C36E-0B45-0E9A-0901F372081C}"/>
              </a:ext>
            </a:extLst>
          </p:cNvPr>
          <p:cNvCxnSpPr>
            <a:cxnSpLocks/>
          </p:cNvCxnSpPr>
          <p:nvPr/>
        </p:nvCxnSpPr>
        <p:spPr>
          <a:xfrm>
            <a:off x="3180522" y="3687420"/>
            <a:ext cx="0" cy="5428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F6281FB-86C0-86F0-63D2-ADA42D2228AD}"/>
              </a:ext>
            </a:extLst>
          </p:cNvPr>
          <p:cNvCxnSpPr>
            <a:cxnSpLocks/>
          </p:cNvCxnSpPr>
          <p:nvPr/>
        </p:nvCxnSpPr>
        <p:spPr>
          <a:xfrm>
            <a:off x="4068417" y="3535928"/>
            <a:ext cx="65267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81A83F61-D71D-0445-5DC4-2B6FF2A266D2}"/>
              </a:ext>
            </a:extLst>
          </p:cNvPr>
          <p:cNvSpPr txBox="1"/>
          <p:nvPr/>
        </p:nvSpPr>
        <p:spPr>
          <a:xfrm>
            <a:off x="2423800" y="4210286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Interpretability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D37844F-3C44-80E4-045E-5AB714AF2B64}"/>
              </a:ext>
            </a:extLst>
          </p:cNvPr>
          <p:cNvSpPr txBox="1"/>
          <p:nvPr/>
        </p:nvSpPr>
        <p:spPr>
          <a:xfrm>
            <a:off x="4721087" y="3345501"/>
            <a:ext cx="23840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Accuracy</a:t>
            </a:r>
          </a:p>
        </p:txBody>
      </p:sp>
    </p:spTree>
    <p:extLst>
      <p:ext uri="{BB962C8B-B14F-4D97-AF65-F5344CB8AC3E}">
        <p14:creationId xmlns:p14="http://schemas.microsoft.com/office/powerpoint/2010/main" val="3458071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5" grpId="0"/>
      <p:bldP spid="2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7">
            <a:extLst>
              <a:ext uri="{FF2B5EF4-FFF2-40B4-BE49-F238E27FC236}">
                <a16:creationId xmlns:a16="http://schemas.microsoft.com/office/drawing/2014/main" id="{89A672C5-F6E4-79AD-7B32-355CF4057726}"/>
              </a:ext>
            </a:extLst>
          </p:cNvPr>
          <p:cNvGrpSpPr/>
          <p:nvPr/>
        </p:nvGrpSpPr>
        <p:grpSpPr>
          <a:xfrm>
            <a:off x="-13253" y="6165803"/>
            <a:ext cx="3073252" cy="694360"/>
            <a:chOff x="0" y="76186"/>
            <a:chExt cx="1209363" cy="187566"/>
          </a:xfrm>
        </p:grpSpPr>
        <p:sp>
          <p:nvSpPr>
            <p:cNvPr id="5" name="Freeform 8">
              <a:extLst>
                <a:ext uri="{FF2B5EF4-FFF2-40B4-BE49-F238E27FC236}">
                  <a16:creationId xmlns:a16="http://schemas.microsoft.com/office/drawing/2014/main" id="{0D6E8404-8300-FCB3-0F88-0BFA67046BF5}"/>
                </a:ext>
              </a:extLst>
            </p:cNvPr>
            <p:cNvSpPr/>
            <p:nvPr/>
          </p:nvSpPr>
          <p:spPr>
            <a:xfrm>
              <a:off x="0" y="76186"/>
              <a:ext cx="1204148" cy="187566"/>
            </a:xfrm>
            <a:custGeom>
              <a:avLst/>
              <a:gdLst/>
              <a:ahLst/>
              <a:cxnLst/>
              <a:rect l="l" t="t" r="r" b="b"/>
              <a:pathLst>
                <a:path w="1204148" h="187606">
                  <a:moveTo>
                    <a:pt x="0" y="0"/>
                  </a:moveTo>
                  <a:lnTo>
                    <a:pt x="1204148" y="0"/>
                  </a:lnTo>
                  <a:lnTo>
                    <a:pt x="1204148" y="187606"/>
                  </a:lnTo>
                  <a:lnTo>
                    <a:pt x="0" y="187606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9">
              <a:extLst>
                <a:ext uri="{FF2B5EF4-FFF2-40B4-BE49-F238E27FC236}">
                  <a16:creationId xmlns:a16="http://schemas.microsoft.com/office/drawing/2014/main" id="{9C05C931-C629-A08C-109E-D3DB04E8AF65}"/>
                </a:ext>
              </a:extLst>
            </p:cNvPr>
            <p:cNvSpPr txBox="1"/>
            <p:nvPr/>
          </p:nvSpPr>
          <p:spPr>
            <a:xfrm>
              <a:off x="5215" y="76420"/>
              <a:ext cx="1204148" cy="1796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94"/>
                </a:lnSpc>
              </a:pPr>
              <a:r>
                <a:rPr lang="en-US" sz="2567" dirty="0">
                  <a:solidFill>
                    <a:srgbClr val="000000"/>
                  </a:solidFill>
                  <a:latin typeface="Canva Sans Bold"/>
                </a:rPr>
                <a:t>Introduction</a:t>
              </a:r>
            </a:p>
          </p:txBody>
        </p:sp>
      </p:grpSp>
      <p:grpSp>
        <p:nvGrpSpPr>
          <p:cNvPr id="16" name="Group 7">
            <a:extLst>
              <a:ext uri="{FF2B5EF4-FFF2-40B4-BE49-F238E27FC236}">
                <a16:creationId xmlns:a16="http://schemas.microsoft.com/office/drawing/2014/main" id="{A17BB610-8050-D126-6AAE-3FAB244ABEDD}"/>
              </a:ext>
            </a:extLst>
          </p:cNvPr>
          <p:cNvGrpSpPr/>
          <p:nvPr/>
        </p:nvGrpSpPr>
        <p:grpSpPr>
          <a:xfrm>
            <a:off x="3044795" y="6165801"/>
            <a:ext cx="3060000" cy="694360"/>
            <a:chOff x="0" y="76186"/>
            <a:chExt cx="1204148" cy="187566"/>
          </a:xfrm>
        </p:grpSpPr>
        <p:sp>
          <p:nvSpPr>
            <p:cNvPr id="17" name="Freeform 8">
              <a:extLst>
                <a:ext uri="{FF2B5EF4-FFF2-40B4-BE49-F238E27FC236}">
                  <a16:creationId xmlns:a16="http://schemas.microsoft.com/office/drawing/2014/main" id="{58EDED6B-4A54-9C8E-806C-A7AB911E0AD3}"/>
                </a:ext>
              </a:extLst>
            </p:cNvPr>
            <p:cNvSpPr/>
            <p:nvPr/>
          </p:nvSpPr>
          <p:spPr>
            <a:xfrm>
              <a:off x="0" y="76186"/>
              <a:ext cx="1204148" cy="187566"/>
            </a:xfrm>
            <a:custGeom>
              <a:avLst/>
              <a:gdLst/>
              <a:ahLst/>
              <a:cxnLst/>
              <a:rect l="l" t="t" r="r" b="b"/>
              <a:pathLst>
                <a:path w="1204148" h="187606">
                  <a:moveTo>
                    <a:pt x="0" y="0"/>
                  </a:moveTo>
                  <a:lnTo>
                    <a:pt x="1204148" y="0"/>
                  </a:lnTo>
                  <a:lnTo>
                    <a:pt x="1204148" y="187606"/>
                  </a:lnTo>
                  <a:lnTo>
                    <a:pt x="0" y="187606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9">
              <a:extLst>
                <a:ext uri="{FF2B5EF4-FFF2-40B4-BE49-F238E27FC236}">
                  <a16:creationId xmlns:a16="http://schemas.microsoft.com/office/drawing/2014/main" id="{53032331-CF2A-A2BF-E9BE-0662C7EBA8C4}"/>
                </a:ext>
              </a:extLst>
            </p:cNvPr>
            <p:cNvSpPr txBox="1"/>
            <p:nvPr/>
          </p:nvSpPr>
          <p:spPr>
            <a:xfrm>
              <a:off x="11198" y="79766"/>
              <a:ext cx="1184875" cy="179895"/>
            </a:xfrm>
            <a:prstGeom prst="rect">
              <a:avLst/>
            </a:prstGeom>
            <a:no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94"/>
                </a:lnSpc>
              </a:pPr>
              <a:r>
                <a:rPr lang="en-US" sz="2800" dirty="0">
                  <a:solidFill>
                    <a:srgbClr val="000000"/>
                  </a:solidFill>
                  <a:latin typeface="Canva Sans Bold"/>
                </a:rPr>
                <a:t>Proposed Model</a:t>
              </a:r>
              <a:endParaRPr lang="en-US" sz="2567" dirty="0">
                <a:solidFill>
                  <a:srgbClr val="000000"/>
                </a:solidFill>
                <a:latin typeface="Canva Sans Bold"/>
              </a:endParaRPr>
            </a:p>
          </p:txBody>
        </p:sp>
      </p:grpSp>
      <p:grpSp>
        <p:nvGrpSpPr>
          <p:cNvPr id="19" name="Group 7">
            <a:extLst>
              <a:ext uri="{FF2B5EF4-FFF2-40B4-BE49-F238E27FC236}">
                <a16:creationId xmlns:a16="http://schemas.microsoft.com/office/drawing/2014/main" id="{C09A1B73-62BE-BC89-70FF-9B0B937E05D0}"/>
              </a:ext>
            </a:extLst>
          </p:cNvPr>
          <p:cNvGrpSpPr/>
          <p:nvPr/>
        </p:nvGrpSpPr>
        <p:grpSpPr>
          <a:xfrm>
            <a:off x="6097528" y="6165800"/>
            <a:ext cx="3060000" cy="694360"/>
            <a:chOff x="0" y="76186"/>
            <a:chExt cx="1204148" cy="187566"/>
          </a:xfrm>
        </p:grpSpPr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25A1ECF2-D0B4-3FAA-8CBE-242E3FC97359}"/>
                </a:ext>
              </a:extLst>
            </p:cNvPr>
            <p:cNvSpPr/>
            <p:nvPr/>
          </p:nvSpPr>
          <p:spPr>
            <a:xfrm>
              <a:off x="0" y="76186"/>
              <a:ext cx="1204148" cy="187566"/>
            </a:xfrm>
            <a:custGeom>
              <a:avLst/>
              <a:gdLst/>
              <a:ahLst/>
              <a:cxnLst/>
              <a:rect l="l" t="t" r="r" b="b"/>
              <a:pathLst>
                <a:path w="1204148" h="187606">
                  <a:moveTo>
                    <a:pt x="0" y="0"/>
                  </a:moveTo>
                  <a:lnTo>
                    <a:pt x="1204148" y="0"/>
                  </a:lnTo>
                  <a:lnTo>
                    <a:pt x="1204148" y="187606"/>
                  </a:lnTo>
                  <a:lnTo>
                    <a:pt x="0" y="187606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9">
              <a:extLst>
                <a:ext uri="{FF2B5EF4-FFF2-40B4-BE49-F238E27FC236}">
                  <a16:creationId xmlns:a16="http://schemas.microsoft.com/office/drawing/2014/main" id="{831FE57D-DB50-F8F8-ECF0-0EC1FDE4A8AF}"/>
                </a:ext>
              </a:extLst>
            </p:cNvPr>
            <p:cNvSpPr txBox="1"/>
            <p:nvPr/>
          </p:nvSpPr>
          <p:spPr>
            <a:xfrm>
              <a:off x="8075" y="80000"/>
              <a:ext cx="1186796" cy="179661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94"/>
                </a:lnSpc>
              </a:pPr>
              <a:r>
                <a:rPr lang="en-US" sz="2800" dirty="0">
                  <a:solidFill>
                    <a:srgbClr val="000000"/>
                  </a:solidFill>
                  <a:latin typeface="Canva Sans Bold"/>
                </a:rPr>
                <a:t>Experiments</a:t>
              </a:r>
            </a:p>
          </p:txBody>
        </p:sp>
      </p:grpSp>
      <p:grpSp>
        <p:nvGrpSpPr>
          <p:cNvPr id="22" name="Group 7">
            <a:extLst>
              <a:ext uri="{FF2B5EF4-FFF2-40B4-BE49-F238E27FC236}">
                <a16:creationId xmlns:a16="http://schemas.microsoft.com/office/drawing/2014/main" id="{373F4254-8C51-E833-9E7D-D890E2F70458}"/>
              </a:ext>
            </a:extLst>
          </p:cNvPr>
          <p:cNvGrpSpPr/>
          <p:nvPr/>
        </p:nvGrpSpPr>
        <p:grpSpPr>
          <a:xfrm>
            <a:off x="9150262" y="6165801"/>
            <a:ext cx="3060000" cy="694360"/>
            <a:chOff x="0" y="76186"/>
            <a:chExt cx="1204148" cy="187566"/>
          </a:xfrm>
        </p:grpSpPr>
        <p:sp>
          <p:nvSpPr>
            <p:cNvPr id="23" name="Freeform 8">
              <a:extLst>
                <a:ext uri="{FF2B5EF4-FFF2-40B4-BE49-F238E27FC236}">
                  <a16:creationId xmlns:a16="http://schemas.microsoft.com/office/drawing/2014/main" id="{AB9464F5-FD2C-05B6-4CD4-C2772008B521}"/>
                </a:ext>
              </a:extLst>
            </p:cNvPr>
            <p:cNvSpPr/>
            <p:nvPr/>
          </p:nvSpPr>
          <p:spPr>
            <a:xfrm>
              <a:off x="0" y="76186"/>
              <a:ext cx="1204148" cy="187566"/>
            </a:xfrm>
            <a:custGeom>
              <a:avLst/>
              <a:gdLst/>
              <a:ahLst/>
              <a:cxnLst/>
              <a:rect l="l" t="t" r="r" b="b"/>
              <a:pathLst>
                <a:path w="1204148" h="187606">
                  <a:moveTo>
                    <a:pt x="0" y="0"/>
                  </a:moveTo>
                  <a:lnTo>
                    <a:pt x="1204148" y="0"/>
                  </a:lnTo>
                  <a:lnTo>
                    <a:pt x="1204148" y="187606"/>
                  </a:lnTo>
                  <a:lnTo>
                    <a:pt x="0" y="187606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9">
              <a:extLst>
                <a:ext uri="{FF2B5EF4-FFF2-40B4-BE49-F238E27FC236}">
                  <a16:creationId xmlns:a16="http://schemas.microsoft.com/office/drawing/2014/main" id="{8E9B77B5-E3A2-E2C5-DE84-804DE48C8576}"/>
                </a:ext>
              </a:extLst>
            </p:cNvPr>
            <p:cNvSpPr txBox="1"/>
            <p:nvPr/>
          </p:nvSpPr>
          <p:spPr>
            <a:xfrm>
              <a:off x="8074" y="80000"/>
              <a:ext cx="1188888" cy="179661"/>
            </a:xfrm>
            <a:prstGeom prst="rect">
              <a:avLst/>
            </a:prstGeom>
            <a:no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94"/>
                </a:lnSpc>
              </a:pPr>
              <a:r>
                <a:rPr lang="en-US" sz="2800" dirty="0">
                  <a:solidFill>
                    <a:srgbClr val="000000"/>
                  </a:solidFill>
                  <a:latin typeface="Canva Sans Bold"/>
                </a:rPr>
                <a:t>Conclusion</a:t>
              </a:r>
              <a:endParaRPr lang="en-US" sz="2567" dirty="0">
                <a:solidFill>
                  <a:srgbClr val="000000"/>
                </a:solidFill>
                <a:latin typeface="Canva Sans Bold"/>
              </a:endParaRPr>
            </a:p>
          </p:txBody>
        </p:sp>
      </p:grp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AC61C8-5F7B-B8D3-D010-F5A9D4871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05727" y="6435862"/>
            <a:ext cx="2743200" cy="365125"/>
          </a:xfrm>
        </p:spPr>
        <p:txBody>
          <a:bodyPr/>
          <a:lstStyle/>
          <a:p>
            <a:fld id="{ABD39697-445C-5345-9B8B-DB9988CAA513}" type="slidenum">
              <a:rPr lang="en-US" smtClean="0"/>
              <a:t>9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020F8E2-5E5F-6631-094D-098021AE826C}"/>
              </a:ext>
            </a:extLst>
          </p:cNvPr>
          <p:cNvSpPr txBox="1"/>
          <p:nvPr/>
        </p:nvSpPr>
        <p:spPr>
          <a:xfrm>
            <a:off x="4980384" y="218463"/>
            <a:ext cx="224882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/>
              <a:t>Experiments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47416BE-BD78-6F12-F13B-BEA60C22D551}"/>
              </a:ext>
            </a:extLst>
          </p:cNvPr>
          <p:cNvSpPr txBox="1"/>
          <p:nvPr/>
        </p:nvSpPr>
        <p:spPr>
          <a:xfrm>
            <a:off x="1183084" y="1170963"/>
            <a:ext cx="6744154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/>
              <a:t>Implementation details:</a:t>
            </a:r>
          </a:p>
          <a:p>
            <a:endParaRPr lang="en-GB" sz="24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b="1" dirty="0"/>
              <a:t>Dataset: </a:t>
            </a:r>
            <a:r>
              <a:rPr lang="en-GB" sz="2400" dirty="0"/>
              <a:t>CUB-200-2011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b="1" dirty="0"/>
              <a:t>Backbone networks: </a:t>
            </a:r>
            <a:r>
              <a:rPr lang="en-GB" sz="2400" i="1" dirty="0">
                <a:effectLst/>
                <a:latin typeface="Helvetica" pitchFamily="2" charset="0"/>
              </a:rPr>
              <a:t>VGG-19, ResNet-34,</a:t>
            </a:r>
            <a:endParaRPr lang="en-GB" sz="2400" dirty="0">
              <a:latin typeface="Helvetica" pitchFamily="2" charset="0"/>
            </a:endParaRPr>
          </a:p>
          <a:p>
            <a:r>
              <a:rPr lang="en-GB" sz="2400" i="1" dirty="0">
                <a:effectLst/>
                <a:latin typeface="Helvetica" pitchFamily="2" charset="0"/>
              </a:rPr>
              <a:t>ResNet-152, DenseNet-121, and DenseNet-161</a:t>
            </a:r>
            <a:endParaRPr lang="en-GB" sz="2400" dirty="0">
              <a:effectLst/>
              <a:latin typeface="Helvetica" pitchFamily="2" charset="0"/>
            </a:endParaRPr>
          </a:p>
          <a:p>
            <a:endParaRPr lang="en-GB" sz="2400" b="1" dirty="0"/>
          </a:p>
        </p:txBody>
      </p:sp>
    </p:spTree>
    <p:extLst>
      <p:ext uri="{BB962C8B-B14F-4D97-AF65-F5344CB8AC3E}">
        <p14:creationId xmlns:p14="http://schemas.microsoft.com/office/powerpoint/2010/main" val="41567051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E59713-6B6E-B480-C1E9-A3703A5798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7">
            <a:extLst>
              <a:ext uri="{FF2B5EF4-FFF2-40B4-BE49-F238E27FC236}">
                <a16:creationId xmlns:a16="http://schemas.microsoft.com/office/drawing/2014/main" id="{01926F02-A616-DAD7-9A5B-CFCCAF33D30A}"/>
              </a:ext>
            </a:extLst>
          </p:cNvPr>
          <p:cNvGrpSpPr/>
          <p:nvPr/>
        </p:nvGrpSpPr>
        <p:grpSpPr>
          <a:xfrm>
            <a:off x="-13253" y="6165803"/>
            <a:ext cx="3073252" cy="694360"/>
            <a:chOff x="0" y="76186"/>
            <a:chExt cx="1209363" cy="187566"/>
          </a:xfrm>
        </p:grpSpPr>
        <p:sp>
          <p:nvSpPr>
            <p:cNvPr id="5" name="Freeform 8">
              <a:extLst>
                <a:ext uri="{FF2B5EF4-FFF2-40B4-BE49-F238E27FC236}">
                  <a16:creationId xmlns:a16="http://schemas.microsoft.com/office/drawing/2014/main" id="{AB198A66-A134-26BE-2446-2FE7445D79B1}"/>
                </a:ext>
              </a:extLst>
            </p:cNvPr>
            <p:cNvSpPr/>
            <p:nvPr/>
          </p:nvSpPr>
          <p:spPr>
            <a:xfrm>
              <a:off x="0" y="76186"/>
              <a:ext cx="1204148" cy="187566"/>
            </a:xfrm>
            <a:custGeom>
              <a:avLst/>
              <a:gdLst/>
              <a:ahLst/>
              <a:cxnLst/>
              <a:rect l="l" t="t" r="r" b="b"/>
              <a:pathLst>
                <a:path w="1204148" h="187606">
                  <a:moveTo>
                    <a:pt x="0" y="0"/>
                  </a:moveTo>
                  <a:lnTo>
                    <a:pt x="1204148" y="0"/>
                  </a:lnTo>
                  <a:lnTo>
                    <a:pt x="1204148" y="187606"/>
                  </a:lnTo>
                  <a:lnTo>
                    <a:pt x="0" y="187606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9">
              <a:extLst>
                <a:ext uri="{FF2B5EF4-FFF2-40B4-BE49-F238E27FC236}">
                  <a16:creationId xmlns:a16="http://schemas.microsoft.com/office/drawing/2014/main" id="{E55FD336-63C9-0C09-EA1E-3CDC2993863F}"/>
                </a:ext>
              </a:extLst>
            </p:cNvPr>
            <p:cNvSpPr txBox="1"/>
            <p:nvPr/>
          </p:nvSpPr>
          <p:spPr>
            <a:xfrm>
              <a:off x="5215" y="76420"/>
              <a:ext cx="1204148" cy="1796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94"/>
                </a:lnSpc>
              </a:pPr>
              <a:r>
                <a:rPr lang="en-US" sz="2567" dirty="0">
                  <a:solidFill>
                    <a:srgbClr val="000000"/>
                  </a:solidFill>
                  <a:latin typeface="Canva Sans Bold"/>
                </a:rPr>
                <a:t>Introduction</a:t>
              </a:r>
            </a:p>
          </p:txBody>
        </p:sp>
      </p:grpSp>
      <p:grpSp>
        <p:nvGrpSpPr>
          <p:cNvPr id="16" name="Group 7">
            <a:extLst>
              <a:ext uri="{FF2B5EF4-FFF2-40B4-BE49-F238E27FC236}">
                <a16:creationId xmlns:a16="http://schemas.microsoft.com/office/drawing/2014/main" id="{F2A8B3E9-9E50-3269-AF69-79DB7DA83B01}"/>
              </a:ext>
            </a:extLst>
          </p:cNvPr>
          <p:cNvGrpSpPr/>
          <p:nvPr/>
        </p:nvGrpSpPr>
        <p:grpSpPr>
          <a:xfrm>
            <a:off x="3044795" y="6165801"/>
            <a:ext cx="3060000" cy="694360"/>
            <a:chOff x="0" y="76186"/>
            <a:chExt cx="1204148" cy="187566"/>
          </a:xfrm>
        </p:grpSpPr>
        <p:sp>
          <p:nvSpPr>
            <p:cNvPr id="17" name="Freeform 8">
              <a:extLst>
                <a:ext uri="{FF2B5EF4-FFF2-40B4-BE49-F238E27FC236}">
                  <a16:creationId xmlns:a16="http://schemas.microsoft.com/office/drawing/2014/main" id="{CA768F76-E7F3-B35D-7172-950B033445A2}"/>
                </a:ext>
              </a:extLst>
            </p:cNvPr>
            <p:cNvSpPr/>
            <p:nvPr/>
          </p:nvSpPr>
          <p:spPr>
            <a:xfrm>
              <a:off x="0" y="76186"/>
              <a:ext cx="1204148" cy="187566"/>
            </a:xfrm>
            <a:custGeom>
              <a:avLst/>
              <a:gdLst/>
              <a:ahLst/>
              <a:cxnLst/>
              <a:rect l="l" t="t" r="r" b="b"/>
              <a:pathLst>
                <a:path w="1204148" h="187606">
                  <a:moveTo>
                    <a:pt x="0" y="0"/>
                  </a:moveTo>
                  <a:lnTo>
                    <a:pt x="1204148" y="0"/>
                  </a:lnTo>
                  <a:lnTo>
                    <a:pt x="1204148" y="187606"/>
                  </a:lnTo>
                  <a:lnTo>
                    <a:pt x="0" y="187606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9">
              <a:extLst>
                <a:ext uri="{FF2B5EF4-FFF2-40B4-BE49-F238E27FC236}">
                  <a16:creationId xmlns:a16="http://schemas.microsoft.com/office/drawing/2014/main" id="{AA9F4192-67D8-6BE0-4962-7994A49C8B04}"/>
                </a:ext>
              </a:extLst>
            </p:cNvPr>
            <p:cNvSpPr txBox="1"/>
            <p:nvPr/>
          </p:nvSpPr>
          <p:spPr>
            <a:xfrm>
              <a:off x="11198" y="79766"/>
              <a:ext cx="1184875" cy="179895"/>
            </a:xfrm>
            <a:prstGeom prst="rect">
              <a:avLst/>
            </a:prstGeom>
            <a:no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94"/>
                </a:lnSpc>
              </a:pPr>
              <a:r>
                <a:rPr lang="en-US" sz="2800" dirty="0">
                  <a:solidFill>
                    <a:srgbClr val="000000"/>
                  </a:solidFill>
                  <a:latin typeface="Canva Sans Bold"/>
                </a:rPr>
                <a:t>Proposed Model</a:t>
              </a:r>
              <a:endParaRPr lang="en-US" sz="2567" dirty="0">
                <a:solidFill>
                  <a:srgbClr val="000000"/>
                </a:solidFill>
                <a:latin typeface="Canva Sans Bold"/>
              </a:endParaRPr>
            </a:p>
          </p:txBody>
        </p:sp>
      </p:grpSp>
      <p:grpSp>
        <p:nvGrpSpPr>
          <p:cNvPr id="19" name="Group 7">
            <a:extLst>
              <a:ext uri="{FF2B5EF4-FFF2-40B4-BE49-F238E27FC236}">
                <a16:creationId xmlns:a16="http://schemas.microsoft.com/office/drawing/2014/main" id="{B212C24C-98BB-3AC1-4113-09A0E9E7EB41}"/>
              </a:ext>
            </a:extLst>
          </p:cNvPr>
          <p:cNvGrpSpPr/>
          <p:nvPr/>
        </p:nvGrpSpPr>
        <p:grpSpPr>
          <a:xfrm>
            <a:off x="6097528" y="6165800"/>
            <a:ext cx="3060000" cy="694360"/>
            <a:chOff x="0" y="76186"/>
            <a:chExt cx="1204148" cy="187566"/>
          </a:xfrm>
        </p:grpSpPr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0321342F-A66F-A49C-ECE8-CE1C8A2E4505}"/>
                </a:ext>
              </a:extLst>
            </p:cNvPr>
            <p:cNvSpPr/>
            <p:nvPr/>
          </p:nvSpPr>
          <p:spPr>
            <a:xfrm>
              <a:off x="0" y="76186"/>
              <a:ext cx="1204148" cy="187566"/>
            </a:xfrm>
            <a:custGeom>
              <a:avLst/>
              <a:gdLst/>
              <a:ahLst/>
              <a:cxnLst/>
              <a:rect l="l" t="t" r="r" b="b"/>
              <a:pathLst>
                <a:path w="1204148" h="187606">
                  <a:moveTo>
                    <a:pt x="0" y="0"/>
                  </a:moveTo>
                  <a:lnTo>
                    <a:pt x="1204148" y="0"/>
                  </a:lnTo>
                  <a:lnTo>
                    <a:pt x="1204148" y="187606"/>
                  </a:lnTo>
                  <a:lnTo>
                    <a:pt x="0" y="187606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9">
              <a:extLst>
                <a:ext uri="{FF2B5EF4-FFF2-40B4-BE49-F238E27FC236}">
                  <a16:creationId xmlns:a16="http://schemas.microsoft.com/office/drawing/2014/main" id="{595B96C2-923F-292D-6421-D1B66F580887}"/>
                </a:ext>
              </a:extLst>
            </p:cNvPr>
            <p:cNvSpPr txBox="1"/>
            <p:nvPr/>
          </p:nvSpPr>
          <p:spPr>
            <a:xfrm>
              <a:off x="8075" y="80000"/>
              <a:ext cx="1186796" cy="179661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94"/>
                </a:lnSpc>
              </a:pPr>
              <a:r>
                <a:rPr lang="en-US" sz="2800" dirty="0">
                  <a:solidFill>
                    <a:srgbClr val="000000"/>
                  </a:solidFill>
                  <a:latin typeface="Canva Sans Bold"/>
                </a:rPr>
                <a:t>Experiments</a:t>
              </a:r>
            </a:p>
          </p:txBody>
        </p:sp>
      </p:grpSp>
      <p:grpSp>
        <p:nvGrpSpPr>
          <p:cNvPr id="22" name="Group 7">
            <a:extLst>
              <a:ext uri="{FF2B5EF4-FFF2-40B4-BE49-F238E27FC236}">
                <a16:creationId xmlns:a16="http://schemas.microsoft.com/office/drawing/2014/main" id="{291324F7-8623-A1D5-96D0-8DB98B3BFAB9}"/>
              </a:ext>
            </a:extLst>
          </p:cNvPr>
          <p:cNvGrpSpPr/>
          <p:nvPr/>
        </p:nvGrpSpPr>
        <p:grpSpPr>
          <a:xfrm>
            <a:off x="9150262" y="6165801"/>
            <a:ext cx="3060000" cy="694360"/>
            <a:chOff x="0" y="76186"/>
            <a:chExt cx="1204148" cy="187566"/>
          </a:xfrm>
        </p:grpSpPr>
        <p:sp>
          <p:nvSpPr>
            <p:cNvPr id="23" name="Freeform 8">
              <a:extLst>
                <a:ext uri="{FF2B5EF4-FFF2-40B4-BE49-F238E27FC236}">
                  <a16:creationId xmlns:a16="http://schemas.microsoft.com/office/drawing/2014/main" id="{47540E89-2E91-A666-5308-CF6C8A56EA6A}"/>
                </a:ext>
              </a:extLst>
            </p:cNvPr>
            <p:cNvSpPr/>
            <p:nvPr/>
          </p:nvSpPr>
          <p:spPr>
            <a:xfrm>
              <a:off x="0" y="76186"/>
              <a:ext cx="1204148" cy="187566"/>
            </a:xfrm>
            <a:custGeom>
              <a:avLst/>
              <a:gdLst/>
              <a:ahLst/>
              <a:cxnLst/>
              <a:rect l="l" t="t" r="r" b="b"/>
              <a:pathLst>
                <a:path w="1204148" h="187606">
                  <a:moveTo>
                    <a:pt x="0" y="0"/>
                  </a:moveTo>
                  <a:lnTo>
                    <a:pt x="1204148" y="0"/>
                  </a:lnTo>
                  <a:lnTo>
                    <a:pt x="1204148" y="187606"/>
                  </a:lnTo>
                  <a:lnTo>
                    <a:pt x="0" y="187606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9">
              <a:extLst>
                <a:ext uri="{FF2B5EF4-FFF2-40B4-BE49-F238E27FC236}">
                  <a16:creationId xmlns:a16="http://schemas.microsoft.com/office/drawing/2014/main" id="{DA94FD20-9831-1CC5-D396-79B6019EECB5}"/>
                </a:ext>
              </a:extLst>
            </p:cNvPr>
            <p:cNvSpPr txBox="1"/>
            <p:nvPr/>
          </p:nvSpPr>
          <p:spPr>
            <a:xfrm>
              <a:off x="8074" y="80000"/>
              <a:ext cx="1188888" cy="179661"/>
            </a:xfrm>
            <a:prstGeom prst="rect">
              <a:avLst/>
            </a:prstGeom>
            <a:no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94"/>
                </a:lnSpc>
              </a:pPr>
              <a:r>
                <a:rPr lang="en-US" sz="2800" dirty="0">
                  <a:solidFill>
                    <a:srgbClr val="000000"/>
                  </a:solidFill>
                  <a:latin typeface="Canva Sans Bold"/>
                </a:rPr>
                <a:t>Conclusion</a:t>
              </a:r>
              <a:endParaRPr lang="en-US" sz="2567" dirty="0">
                <a:solidFill>
                  <a:srgbClr val="000000"/>
                </a:solidFill>
                <a:latin typeface="Canva Sans Bold"/>
              </a:endParaRPr>
            </a:p>
          </p:txBody>
        </p:sp>
      </p:grp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987A4F-7765-D310-1244-9970BAEF7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05727" y="6435862"/>
            <a:ext cx="2743200" cy="365125"/>
          </a:xfrm>
        </p:spPr>
        <p:txBody>
          <a:bodyPr/>
          <a:lstStyle/>
          <a:p>
            <a:fld id="{ABD39697-445C-5345-9B8B-DB9988CAA513}" type="slidenum">
              <a:rPr lang="en-US" smtClean="0"/>
              <a:t>10</a:t>
            </a:fld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4E86F9E-8DD2-8847-F748-F324AAF7F0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0007" y="606567"/>
            <a:ext cx="6271986" cy="238246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31D90C1-E055-C6E8-08A5-6AD7849D00F2}"/>
              </a:ext>
            </a:extLst>
          </p:cNvPr>
          <p:cNvSpPr txBox="1"/>
          <p:nvPr/>
        </p:nvSpPr>
        <p:spPr>
          <a:xfrm>
            <a:off x="4080933" y="3070880"/>
            <a:ext cx="45239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Table 1: Accuracy (%) of the EPPNet and other xAI-based</a:t>
            </a:r>
          </a:p>
          <a:p>
            <a:pPr algn="ctr"/>
            <a:r>
              <a:rPr lang="en-US" sz="1400" dirty="0"/>
              <a:t>models for different backbones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06358F6-CA2B-A4AB-BAAE-F2E7468519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6698" y="4199166"/>
            <a:ext cx="7772400" cy="98156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A1AA55E-E969-415A-990C-28E39E4115B4}"/>
              </a:ext>
            </a:extLst>
          </p:cNvPr>
          <p:cNvSpPr txBox="1"/>
          <p:nvPr/>
        </p:nvSpPr>
        <p:spPr>
          <a:xfrm>
            <a:off x="3765246" y="5262577"/>
            <a:ext cx="59163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Table 2: Accuracy (%) of the PPNet and the EPPNet for different backbones</a:t>
            </a:r>
          </a:p>
          <a:p>
            <a:pPr algn="ctr"/>
            <a:r>
              <a:rPr lang="en-US" sz="1400" dirty="0"/>
              <a:t> after pruning half of the learned prototypes</a:t>
            </a:r>
          </a:p>
        </p:txBody>
      </p:sp>
    </p:spTree>
    <p:extLst>
      <p:ext uri="{BB962C8B-B14F-4D97-AF65-F5344CB8AC3E}">
        <p14:creationId xmlns:p14="http://schemas.microsoft.com/office/powerpoint/2010/main" val="24130370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7">
            <a:extLst>
              <a:ext uri="{FF2B5EF4-FFF2-40B4-BE49-F238E27FC236}">
                <a16:creationId xmlns:a16="http://schemas.microsoft.com/office/drawing/2014/main" id="{89A672C5-F6E4-79AD-7B32-355CF4057726}"/>
              </a:ext>
            </a:extLst>
          </p:cNvPr>
          <p:cNvGrpSpPr/>
          <p:nvPr/>
        </p:nvGrpSpPr>
        <p:grpSpPr>
          <a:xfrm>
            <a:off x="-13253" y="6165803"/>
            <a:ext cx="3073252" cy="694360"/>
            <a:chOff x="0" y="76186"/>
            <a:chExt cx="1209363" cy="187566"/>
          </a:xfrm>
        </p:grpSpPr>
        <p:sp>
          <p:nvSpPr>
            <p:cNvPr id="5" name="Freeform 8">
              <a:extLst>
                <a:ext uri="{FF2B5EF4-FFF2-40B4-BE49-F238E27FC236}">
                  <a16:creationId xmlns:a16="http://schemas.microsoft.com/office/drawing/2014/main" id="{0D6E8404-8300-FCB3-0F88-0BFA67046BF5}"/>
                </a:ext>
              </a:extLst>
            </p:cNvPr>
            <p:cNvSpPr/>
            <p:nvPr/>
          </p:nvSpPr>
          <p:spPr>
            <a:xfrm>
              <a:off x="0" y="76186"/>
              <a:ext cx="1204148" cy="187566"/>
            </a:xfrm>
            <a:custGeom>
              <a:avLst/>
              <a:gdLst/>
              <a:ahLst/>
              <a:cxnLst/>
              <a:rect l="l" t="t" r="r" b="b"/>
              <a:pathLst>
                <a:path w="1204148" h="187606">
                  <a:moveTo>
                    <a:pt x="0" y="0"/>
                  </a:moveTo>
                  <a:lnTo>
                    <a:pt x="1204148" y="0"/>
                  </a:lnTo>
                  <a:lnTo>
                    <a:pt x="1204148" y="187606"/>
                  </a:lnTo>
                  <a:lnTo>
                    <a:pt x="0" y="187606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9">
              <a:extLst>
                <a:ext uri="{FF2B5EF4-FFF2-40B4-BE49-F238E27FC236}">
                  <a16:creationId xmlns:a16="http://schemas.microsoft.com/office/drawing/2014/main" id="{9C05C931-C629-A08C-109E-D3DB04E8AF65}"/>
                </a:ext>
              </a:extLst>
            </p:cNvPr>
            <p:cNvSpPr txBox="1"/>
            <p:nvPr/>
          </p:nvSpPr>
          <p:spPr>
            <a:xfrm>
              <a:off x="5215" y="76420"/>
              <a:ext cx="1204148" cy="1796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94"/>
                </a:lnSpc>
              </a:pPr>
              <a:r>
                <a:rPr lang="en-US" sz="2567" dirty="0">
                  <a:solidFill>
                    <a:srgbClr val="000000"/>
                  </a:solidFill>
                  <a:latin typeface="Canva Sans Bold"/>
                </a:rPr>
                <a:t>Introduction</a:t>
              </a:r>
            </a:p>
          </p:txBody>
        </p:sp>
      </p:grpSp>
      <p:grpSp>
        <p:nvGrpSpPr>
          <p:cNvPr id="16" name="Group 7">
            <a:extLst>
              <a:ext uri="{FF2B5EF4-FFF2-40B4-BE49-F238E27FC236}">
                <a16:creationId xmlns:a16="http://schemas.microsoft.com/office/drawing/2014/main" id="{A17BB610-8050-D126-6AAE-3FAB244ABEDD}"/>
              </a:ext>
            </a:extLst>
          </p:cNvPr>
          <p:cNvGrpSpPr/>
          <p:nvPr/>
        </p:nvGrpSpPr>
        <p:grpSpPr>
          <a:xfrm>
            <a:off x="3044795" y="6165801"/>
            <a:ext cx="3060000" cy="694360"/>
            <a:chOff x="0" y="76186"/>
            <a:chExt cx="1204148" cy="187566"/>
          </a:xfrm>
        </p:grpSpPr>
        <p:sp>
          <p:nvSpPr>
            <p:cNvPr id="17" name="Freeform 8">
              <a:extLst>
                <a:ext uri="{FF2B5EF4-FFF2-40B4-BE49-F238E27FC236}">
                  <a16:creationId xmlns:a16="http://schemas.microsoft.com/office/drawing/2014/main" id="{58EDED6B-4A54-9C8E-806C-A7AB911E0AD3}"/>
                </a:ext>
              </a:extLst>
            </p:cNvPr>
            <p:cNvSpPr/>
            <p:nvPr/>
          </p:nvSpPr>
          <p:spPr>
            <a:xfrm>
              <a:off x="0" y="76186"/>
              <a:ext cx="1204148" cy="187566"/>
            </a:xfrm>
            <a:custGeom>
              <a:avLst/>
              <a:gdLst/>
              <a:ahLst/>
              <a:cxnLst/>
              <a:rect l="l" t="t" r="r" b="b"/>
              <a:pathLst>
                <a:path w="1204148" h="187606">
                  <a:moveTo>
                    <a:pt x="0" y="0"/>
                  </a:moveTo>
                  <a:lnTo>
                    <a:pt x="1204148" y="0"/>
                  </a:lnTo>
                  <a:lnTo>
                    <a:pt x="1204148" y="187606"/>
                  </a:lnTo>
                  <a:lnTo>
                    <a:pt x="0" y="187606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9">
              <a:extLst>
                <a:ext uri="{FF2B5EF4-FFF2-40B4-BE49-F238E27FC236}">
                  <a16:creationId xmlns:a16="http://schemas.microsoft.com/office/drawing/2014/main" id="{53032331-CF2A-A2BF-E9BE-0662C7EBA8C4}"/>
                </a:ext>
              </a:extLst>
            </p:cNvPr>
            <p:cNvSpPr txBox="1"/>
            <p:nvPr/>
          </p:nvSpPr>
          <p:spPr>
            <a:xfrm>
              <a:off x="11198" y="79766"/>
              <a:ext cx="1184875" cy="179895"/>
            </a:xfrm>
            <a:prstGeom prst="rect">
              <a:avLst/>
            </a:prstGeom>
            <a:no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94"/>
                </a:lnSpc>
              </a:pPr>
              <a:r>
                <a:rPr lang="en-US" sz="2800" dirty="0">
                  <a:solidFill>
                    <a:srgbClr val="000000"/>
                  </a:solidFill>
                  <a:latin typeface="Canva Sans Bold"/>
                </a:rPr>
                <a:t>Proposed Model</a:t>
              </a:r>
              <a:endParaRPr lang="en-US" sz="2567" dirty="0">
                <a:solidFill>
                  <a:srgbClr val="000000"/>
                </a:solidFill>
                <a:latin typeface="Canva Sans Bold"/>
              </a:endParaRPr>
            </a:p>
          </p:txBody>
        </p:sp>
      </p:grpSp>
      <p:grpSp>
        <p:nvGrpSpPr>
          <p:cNvPr id="19" name="Group 7">
            <a:extLst>
              <a:ext uri="{FF2B5EF4-FFF2-40B4-BE49-F238E27FC236}">
                <a16:creationId xmlns:a16="http://schemas.microsoft.com/office/drawing/2014/main" id="{C09A1B73-62BE-BC89-70FF-9B0B937E05D0}"/>
              </a:ext>
            </a:extLst>
          </p:cNvPr>
          <p:cNvGrpSpPr/>
          <p:nvPr/>
        </p:nvGrpSpPr>
        <p:grpSpPr>
          <a:xfrm>
            <a:off x="6097528" y="6165800"/>
            <a:ext cx="3060000" cy="694360"/>
            <a:chOff x="0" y="76186"/>
            <a:chExt cx="1204148" cy="187566"/>
          </a:xfrm>
        </p:grpSpPr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25A1ECF2-D0B4-3FAA-8CBE-242E3FC97359}"/>
                </a:ext>
              </a:extLst>
            </p:cNvPr>
            <p:cNvSpPr/>
            <p:nvPr/>
          </p:nvSpPr>
          <p:spPr>
            <a:xfrm>
              <a:off x="0" y="76186"/>
              <a:ext cx="1204148" cy="187566"/>
            </a:xfrm>
            <a:custGeom>
              <a:avLst/>
              <a:gdLst/>
              <a:ahLst/>
              <a:cxnLst/>
              <a:rect l="l" t="t" r="r" b="b"/>
              <a:pathLst>
                <a:path w="1204148" h="187606">
                  <a:moveTo>
                    <a:pt x="0" y="0"/>
                  </a:moveTo>
                  <a:lnTo>
                    <a:pt x="1204148" y="0"/>
                  </a:lnTo>
                  <a:lnTo>
                    <a:pt x="1204148" y="187606"/>
                  </a:lnTo>
                  <a:lnTo>
                    <a:pt x="0" y="187606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9">
              <a:extLst>
                <a:ext uri="{FF2B5EF4-FFF2-40B4-BE49-F238E27FC236}">
                  <a16:creationId xmlns:a16="http://schemas.microsoft.com/office/drawing/2014/main" id="{831FE57D-DB50-F8F8-ECF0-0EC1FDE4A8AF}"/>
                </a:ext>
              </a:extLst>
            </p:cNvPr>
            <p:cNvSpPr txBox="1"/>
            <p:nvPr/>
          </p:nvSpPr>
          <p:spPr>
            <a:xfrm>
              <a:off x="8075" y="80000"/>
              <a:ext cx="1186796" cy="179661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94"/>
                </a:lnSpc>
              </a:pPr>
              <a:r>
                <a:rPr lang="en-US" sz="2800" dirty="0">
                  <a:solidFill>
                    <a:srgbClr val="000000"/>
                  </a:solidFill>
                  <a:latin typeface="Canva Sans Bold"/>
                </a:rPr>
                <a:t>Experiments</a:t>
              </a:r>
            </a:p>
          </p:txBody>
        </p:sp>
      </p:grpSp>
      <p:grpSp>
        <p:nvGrpSpPr>
          <p:cNvPr id="22" name="Group 7">
            <a:extLst>
              <a:ext uri="{FF2B5EF4-FFF2-40B4-BE49-F238E27FC236}">
                <a16:creationId xmlns:a16="http://schemas.microsoft.com/office/drawing/2014/main" id="{373F4254-8C51-E833-9E7D-D890E2F70458}"/>
              </a:ext>
            </a:extLst>
          </p:cNvPr>
          <p:cNvGrpSpPr/>
          <p:nvPr/>
        </p:nvGrpSpPr>
        <p:grpSpPr>
          <a:xfrm>
            <a:off x="9150262" y="6165801"/>
            <a:ext cx="3060000" cy="694360"/>
            <a:chOff x="0" y="76186"/>
            <a:chExt cx="1204148" cy="187566"/>
          </a:xfrm>
        </p:grpSpPr>
        <p:sp>
          <p:nvSpPr>
            <p:cNvPr id="23" name="Freeform 8">
              <a:extLst>
                <a:ext uri="{FF2B5EF4-FFF2-40B4-BE49-F238E27FC236}">
                  <a16:creationId xmlns:a16="http://schemas.microsoft.com/office/drawing/2014/main" id="{AB9464F5-FD2C-05B6-4CD4-C2772008B521}"/>
                </a:ext>
              </a:extLst>
            </p:cNvPr>
            <p:cNvSpPr/>
            <p:nvPr/>
          </p:nvSpPr>
          <p:spPr>
            <a:xfrm>
              <a:off x="0" y="76186"/>
              <a:ext cx="1204148" cy="187566"/>
            </a:xfrm>
            <a:custGeom>
              <a:avLst/>
              <a:gdLst/>
              <a:ahLst/>
              <a:cxnLst/>
              <a:rect l="l" t="t" r="r" b="b"/>
              <a:pathLst>
                <a:path w="1204148" h="187606">
                  <a:moveTo>
                    <a:pt x="0" y="0"/>
                  </a:moveTo>
                  <a:lnTo>
                    <a:pt x="1204148" y="0"/>
                  </a:lnTo>
                  <a:lnTo>
                    <a:pt x="1204148" y="187606"/>
                  </a:lnTo>
                  <a:lnTo>
                    <a:pt x="0" y="187606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9">
              <a:extLst>
                <a:ext uri="{FF2B5EF4-FFF2-40B4-BE49-F238E27FC236}">
                  <a16:creationId xmlns:a16="http://schemas.microsoft.com/office/drawing/2014/main" id="{8E9B77B5-E3A2-E2C5-DE84-804DE48C8576}"/>
                </a:ext>
              </a:extLst>
            </p:cNvPr>
            <p:cNvSpPr txBox="1"/>
            <p:nvPr/>
          </p:nvSpPr>
          <p:spPr>
            <a:xfrm>
              <a:off x="8074" y="80000"/>
              <a:ext cx="1188888" cy="179661"/>
            </a:xfrm>
            <a:prstGeom prst="rect">
              <a:avLst/>
            </a:prstGeom>
            <a:no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94"/>
                </a:lnSpc>
              </a:pPr>
              <a:r>
                <a:rPr lang="en-US" sz="2800" dirty="0">
                  <a:solidFill>
                    <a:srgbClr val="000000"/>
                  </a:solidFill>
                  <a:latin typeface="Canva Sans Bold"/>
                </a:rPr>
                <a:t>Conclusion</a:t>
              </a:r>
              <a:endParaRPr lang="en-US" sz="2567" dirty="0">
                <a:solidFill>
                  <a:srgbClr val="000000"/>
                </a:solidFill>
                <a:latin typeface="Canva Sans Bold"/>
              </a:endParaRPr>
            </a:p>
          </p:txBody>
        </p:sp>
      </p:grp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AC61C8-5F7B-B8D3-D010-F5A9D4871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05727" y="6435862"/>
            <a:ext cx="2743200" cy="365125"/>
          </a:xfrm>
        </p:spPr>
        <p:txBody>
          <a:bodyPr/>
          <a:lstStyle/>
          <a:p>
            <a:fld id="{ABD39697-445C-5345-9B8B-DB9988CAA513}" type="slidenum">
              <a:rPr lang="en-US" smtClean="0"/>
              <a:t>11</a:t>
            </a:fld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008F4EA-0A31-851B-A259-57269B14CB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2119" y="96323"/>
            <a:ext cx="4319072" cy="200561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D12AD21-E405-CB8D-A679-87D15806E25D}"/>
              </a:ext>
            </a:extLst>
          </p:cNvPr>
          <p:cNvSpPr txBox="1"/>
          <p:nvPr/>
        </p:nvSpPr>
        <p:spPr>
          <a:xfrm>
            <a:off x="3080910" y="2149531"/>
            <a:ext cx="52014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Table 3: Accuracy (%) of the EPPNet for different values of </a:t>
            </a:r>
            <a:r>
              <a:rPr lang="el-GR" sz="1400" dirty="0"/>
              <a:t>θ</a:t>
            </a:r>
          </a:p>
          <a:p>
            <a:pPr algn="ctr"/>
            <a:r>
              <a:rPr lang="el-GR" sz="1400" dirty="0"/>
              <a:t>(</a:t>
            </a:r>
            <a:r>
              <a:rPr lang="en-US" sz="1400" dirty="0"/>
              <a:t>mean-cluster loss) when 10 prototypes are learned per class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0169B94-249D-A849-F016-2D6474C6D2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5607" y="3214942"/>
            <a:ext cx="8560786" cy="233245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13AD1A2-1BAA-9536-4625-B6D6032FD0A0}"/>
              </a:ext>
            </a:extLst>
          </p:cNvPr>
          <p:cNvSpPr txBox="1"/>
          <p:nvPr/>
        </p:nvSpPr>
        <p:spPr>
          <a:xfrm>
            <a:off x="3586210" y="5577092"/>
            <a:ext cx="50195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Table 4: Faithfulness scores (↑) of the PPNet and the EPPNet </a:t>
            </a:r>
          </a:p>
          <a:p>
            <a:pPr algn="ctr"/>
            <a:r>
              <a:rPr lang="en-US" sz="1400" dirty="0"/>
              <a:t>for different backbones and the ten hardest-to-classify classes</a:t>
            </a:r>
          </a:p>
        </p:txBody>
      </p:sp>
    </p:spTree>
    <p:extLst>
      <p:ext uri="{BB962C8B-B14F-4D97-AF65-F5344CB8AC3E}">
        <p14:creationId xmlns:p14="http://schemas.microsoft.com/office/powerpoint/2010/main" val="32076390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3E47AF-2372-D32B-E930-C94AE12CC1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7">
            <a:extLst>
              <a:ext uri="{FF2B5EF4-FFF2-40B4-BE49-F238E27FC236}">
                <a16:creationId xmlns:a16="http://schemas.microsoft.com/office/drawing/2014/main" id="{DA765B61-6AAD-60BD-1C83-AB18B338AA84}"/>
              </a:ext>
            </a:extLst>
          </p:cNvPr>
          <p:cNvGrpSpPr/>
          <p:nvPr/>
        </p:nvGrpSpPr>
        <p:grpSpPr>
          <a:xfrm>
            <a:off x="-13253" y="6165803"/>
            <a:ext cx="3073252" cy="694360"/>
            <a:chOff x="0" y="76186"/>
            <a:chExt cx="1209363" cy="187566"/>
          </a:xfrm>
        </p:grpSpPr>
        <p:sp>
          <p:nvSpPr>
            <p:cNvPr id="5" name="Freeform 8">
              <a:extLst>
                <a:ext uri="{FF2B5EF4-FFF2-40B4-BE49-F238E27FC236}">
                  <a16:creationId xmlns:a16="http://schemas.microsoft.com/office/drawing/2014/main" id="{E8016994-C03D-68BA-C802-68E56F7B928A}"/>
                </a:ext>
              </a:extLst>
            </p:cNvPr>
            <p:cNvSpPr/>
            <p:nvPr/>
          </p:nvSpPr>
          <p:spPr>
            <a:xfrm>
              <a:off x="0" y="76186"/>
              <a:ext cx="1204148" cy="187566"/>
            </a:xfrm>
            <a:custGeom>
              <a:avLst/>
              <a:gdLst/>
              <a:ahLst/>
              <a:cxnLst/>
              <a:rect l="l" t="t" r="r" b="b"/>
              <a:pathLst>
                <a:path w="1204148" h="187606">
                  <a:moveTo>
                    <a:pt x="0" y="0"/>
                  </a:moveTo>
                  <a:lnTo>
                    <a:pt x="1204148" y="0"/>
                  </a:lnTo>
                  <a:lnTo>
                    <a:pt x="1204148" y="187606"/>
                  </a:lnTo>
                  <a:lnTo>
                    <a:pt x="0" y="187606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9">
              <a:extLst>
                <a:ext uri="{FF2B5EF4-FFF2-40B4-BE49-F238E27FC236}">
                  <a16:creationId xmlns:a16="http://schemas.microsoft.com/office/drawing/2014/main" id="{6138DAF5-71B5-1D7F-C10E-89E167B245EC}"/>
                </a:ext>
              </a:extLst>
            </p:cNvPr>
            <p:cNvSpPr txBox="1"/>
            <p:nvPr/>
          </p:nvSpPr>
          <p:spPr>
            <a:xfrm>
              <a:off x="5215" y="76420"/>
              <a:ext cx="1204148" cy="1796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94"/>
                </a:lnSpc>
              </a:pPr>
              <a:r>
                <a:rPr lang="en-US" sz="2567" dirty="0">
                  <a:solidFill>
                    <a:srgbClr val="000000"/>
                  </a:solidFill>
                  <a:latin typeface="Canva Sans Bold"/>
                </a:rPr>
                <a:t>Introduction</a:t>
              </a:r>
            </a:p>
          </p:txBody>
        </p:sp>
      </p:grpSp>
      <p:grpSp>
        <p:nvGrpSpPr>
          <p:cNvPr id="16" name="Group 7">
            <a:extLst>
              <a:ext uri="{FF2B5EF4-FFF2-40B4-BE49-F238E27FC236}">
                <a16:creationId xmlns:a16="http://schemas.microsoft.com/office/drawing/2014/main" id="{6B6854F2-5CF6-A1DF-A040-22977F0E9E0D}"/>
              </a:ext>
            </a:extLst>
          </p:cNvPr>
          <p:cNvGrpSpPr/>
          <p:nvPr/>
        </p:nvGrpSpPr>
        <p:grpSpPr>
          <a:xfrm>
            <a:off x="3044795" y="6165801"/>
            <a:ext cx="3060000" cy="694360"/>
            <a:chOff x="0" y="76186"/>
            <a:chExt cx="1204148" cy="187566"/>
          </a:xfrm>
        </p:grpSpPr>
        <p:sp>
          <p:nvSpPr>
            <p:cNvPr id="17" name="Freeform 8">
              <a:extLst>
                <a:ext uri="{FF2B5EF4-FFF2-40B4-BE49-F238E27FC236}">
                  <a16:creationId xmlns:a16="http://schemas.microsoft.com/office/drawing/2014/main" id="{32C43C33-8E7C-AB8A-DFEA-9A2951C23572}"/>
                </a:ext>
              </a:extLst>
            </p:cNvPr>
            <p:cNvSpPr/>
            <p:nvPr/>
          </p:nvSpPr>
          <p:spPr>
            <a:xfrm>
              <a:off x="0" y="76186"/>
              <a:ext cx="1204148" cy="187566"/>
            </a:xfrm>
            <a:custGeom>
              <a:avLst/>
              <a:gdLst/>
              <a:ahLst/>
              <a:cxnLst/>
              <a:rect l="l" t="t" r="r" b="b"/>
              <a:pathLst>
                <a:path w="1204148" h="187606">
                  <a:moveTo>
                    <a:pt x="0" y="0"/>
                  </a:moveTo>
                  <a:lnTo>
                    <a:pt x="1204148" y="0"/>
                  </a:lnTo>
                  <a:lnTo>
                    <a:pt x="1204148" y="187606"/>
                  </a:lnTo>
                  <a:lnTo>
                    <a:pt x="0" y="187606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9">
              <a:extLst>
                <a:ext uri="{FF2B5EF4-FFF2-40B4-BE49-F238E27FC236}">
                  <a16:creationId xmlns:a16="http://schemas.microsoft.com/office/drawing/2014/main" id="{7850E965-FAC6-5950-D6C5-A00FBA34EA33}"/>
                </a:ext>
              </a:extLst>
            </p:cNvPr>
            <p:cNvSpPr txBox="1"/>
            <p:nvPr/>
          </p:nvSpPr>
          <p:spPr>
            <a:xfrm>
              <a:off x="11198" y="79766"/>
              <a:ext cx="1184875" cy="179895"/>
            </a:xfrm>
            <a:prstGeom prst="rect">
              <a:avLst/>
            </a:prstGeom>
            <a:no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94"/>
                </a:lnSpc>
              </a:pPr>
              <a:r>
                <a:rPr lang="en-US" sz="2800" dirty="0">
                  <a:solidFill>
                    <a:srgbClr val="000000"/>
                  </a:solidFill>
                  <a:latin typeface="Canva Sans Bold"/>
                </a:rPr>
                <a:t>Proposed Model</a:t>
              </a:r>
              <a:endParaRPr lang="en-US" sz="2567" dirty="0">
                <a:solidFill>
                  <a:srgbClr val="000000"/>
                </a:solidFill>
                <a:latin typeface="Canva Sans Bold"/>
              </a:endParaRPr>
            </a:p>
          </p:txBody>
        </p:sp>
      </p:grpSp>
      <p:grpSp>
        <p:nvGrpSpPr>
          <p:cNvPr id="19" name="Group 7">
            <a:extLst>
              <a:ext uri="{FF2B5EF4-FFF2-40B4-BE49-F238E27FC236}">
                <a16:creationId xmlns:a16="http://schemas.microsoft.com/office/drawing/2014/main" id="{A1EFFCA5-4969-25D1-8726-A90E022A36C6}"/>
              </a:ext>
            </a:extLst>
          </p:cNvPr>
          <p:cNvGrpSpPr/>
          <p:nvPr/>
        </p:nvGrpSpPr>
        <p:grpSpPr>
          <a:xfrm>
            <a:off x="6097528" y="6165800"/>
            <a:ext cx="3060000" cy="694360"/>
            <a:chOff x="0" y="76186"/>
            <a:chExt cx="1204148" cy="187566"/>
          </a:xfrm>
        </p:grpSpPr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7B96E6D9-18BC-2102-7FF2-DA87B0218073}"/>
                </a:ext>
              </a:extLst>
            </p:cNvPr>
            <p:cNvSpPr/>
            <p:nvPr/>
          </p:nvSpPr>
          <p:spPr>
            <a:xfrm>
              <a:off x="0" y="76186"/>
              <a:ext cx="1204148" cy="187566"/>
            </a:xfrm>
            <a:custGeom>
              <a:avLst/>
              <a:gdLst/>
              <a:ahLst/>
              <a:cxnLst/>
              <a:rect l="l" t="t" r="r" b="b"/>
              <a:pathLst>
                <a:path w="1204148" h="187606">
                  <a:moveTo>
                    <a:pt x="0" y="0"/>
                  </a:moveTo>
                  <a:lnTo>
                    <a:pt x="1204148" y="0"/>
                  </a:lnTo>
                  <a:lnTo>
                    <a:pt x="1204148" y="187606"/>
                  </a:lnTo>
                  <a:lnTo>
                    <a:pt x="0" y="187606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9">
              <a:extLst>
                <a:ext uri="{FF2B5EF4-FFF2-40B4-BE49-F238E27FC236}">
                  <a16:creationId xmlns:a16="http://schemas.microsoft.com/office/drawing/2014/main" id="{8446C0C3-AE32-414F-90E9-F713FAE6BE80}"/>
                </a:ext>
              </a:extLst>
            </p:cNvPr>
            <p:cNvSpPr txBox="1"/>
            <p:nvPr/>
          </p:nvSpPr>
          <p:spPr>
            <a:xfrm>
              <a:off x="8075" y="80000"/>
              <a:ext cx="1186796" cy="179661"/>
            </a:xfrm>
            <a:prstGeom prst="rect">
              <a:avLst/>
            </a:prstGeom>
            <a:no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94"/>
                </a:lnSpc>
              </a:pPr>
              <a:r>
                <a:rPr lang="en-US" sz="2800" dirty="0">
                  <a:solidFill>
                    <a:srgbClr val="000000"/>
                  </a:solidFill>
                  <a:latin typeface="Canva Sans Bold"/>
                </a:rPr>
                <a:t>Experiments</a:t>
              </a:r>
            </a:p>
          </p:txBody>
        </p:sp>
      </p:grpSp>
      <p:grpSp>
        <p:nvGrpSpPr>
          <p:cNvPr id="22" name="Group 7">
            <a:extLst>
              <a:ext uri="{FF2B5EF4-FFF2-40B4-BE49-F238E27FC236}">
                <a16:creationId xmlns:a16="http://schemas.microsoft.com/office/drawing/2014/main" id="{AAAD4F23-8292-8403-A84A-0BE071D05FD6}"/>
              </a:ext>
            </a:extLst>
          </p:cNvPr>
          <p:cNvGrpSpPr/>
          <p:nvPr/>
        </p:nvGrpSpPr>
        <p:grpSpPr>
          <a:xfrm>
            <a:off x="9150262" y="6165801"/>
            <a:ext cx="3060000" cy="694360"/>
            <a:chOff x="0" y="76186"/>
            <a:chExt cx="1204148" cy="187566"/>
          </a:xfrm>
        </p:grpSpPr>
        <p:sp>
          <p:nvSpPr>
            <p:cNvPr id="23" name="Freeform 8">
              <a:extLst>
                <a:ext uri="{FF2B5EF4-FFF2-40B4-BE49-F238E27FC236}">
                  <a16:creationId xmlns:a16="http://schemas.microsoft.com/office/drawing/2014/main" id="{841B7380-902A-39D4-66E6-87A37EE46B5C}"/>
                </a:ext>
              </a:extLst>
            </p:cNvPr>
            <p:cNvSpPr/>
            <p:nvPr/>
          </p:nvSpPr>
          <p:spPr>
            <a:xfrm>
              <a:off x="0" y="76186"/>
              <a:ext cx="1204148" cy="187566"/>
            </a:xfrm>
            <a:custGeom>
              <a:avLst/>
              <a:gdLst/>
              <a:ahLst/>
              <a:cxnLst/>
              <a:rect l="l" t="t" r="r" b="b"/>
              <a:pathLst>
                <a:path w="1204148" h="187606">
                  <a:moveTo>
                    <a:pt x="0" y="0"/>
                  </a:moveTo>
                  <a:lnTo>
                    <a:pt x="1204148" y="0"/>
                  </a:lnTo>
                  <a:lnTo>
                    <a:pt x="1204148" y="187606"/>
                  </a:lnTo>
                  <a:lnTo>
                    <a:pt x="0" y="187606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9">
              <a:extLst>
                <a:ext uri="{FF2B5EF4-FFF2-40B4-BE49-F238E27FC236}">
                  <a16:creationId xmlns:a16="http://schemas.microsoft.com/office/drawing/2014/main" id="{752D65E6-04A0-5831-5D6D-43DF537712AE}"/>
                </a:ext>
              </a:extLst>
            </p:cNvPr>
            <p:cNvSpPr txBox="1"/>
            <p:nvPr/>
          </p:nvSpPr>
          <p:spPr>
            <a:xfrm>
              <a:off x="8074" y="80000"/>
              <a:ext cx="1188888" cy="179661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94"/>
                </a:lnSpc>
              </a:pPr>
              <a:r>
                <a:rPr lang="en-US" sz="2800" dirty="0">
                  <a:solidFill>
                    <a:srgbClr val="000000"/>
                  </a:solidFill>
                  <a:latin typeface="Canva Sans Bold"/>
                </a:rPr>
                <a:t>Conclusion</a:t>
              </a:r>
              <a:endParaRPr lang="en-US" sz="2567" dirty="0">
                <a:solidFill>
                  <a:srgbClr val="000000"/>
                </a:solidFill>
                <a:latin typeface="Canva Sans Bold"/>
              </a:endParaRPr>
            </a:p>
          </p:txBody>
        </p:sp>
      </p:grp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8908F7-D12B-FDCE-94EB-AA5CFFD7A0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05727" y="6435862"/>
            <a:ext cx="2743200" cy="365125"/>
          </a:xfrm>
        </p:spPr>
        <p:txBody>
          <a:bodyPr/>
          <a:lstStyle/>
          <a:p>
            <a:fld id="{ABD39697-445C-5345-9B8B-DB9988CAA513}" type="slidenum">
              <a:rPr lang="en-US" smtClean="0"/>
              <a:t>12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17F7872-2535-D5C3-6321-874833A02248}"/>
              </a:ext>
            </a:extLst>
          </p:cNvPr>
          <p:cNvSpPr txBox="1"/>
          <p:nvPr/>
        </p:nvSpPr>
        <p:spPr>
          <a:xfrm>
            <a:off x="4980384" y="218463"/>
            <a:ext cx="205857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/>
              <a:t>Conclusion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6BC8AEA-1125-95D6-EFB2-D06CB1B7FA26}"/>
              </a:ext>
            </a:extLst>
          </p:cNvPr>
          <p:cNvSpPr txBox="1"/>
          <p:nvPr/>
        </p:nvSpPr>
        <p:spPr>
          <a:xfrm>
            <a:off x="800100" y="1320800"/>
            <a:ext cx="919480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We have introduced the </a:t>
            </a:r>
            <a:r>
              <a:rPr lang="en-US" sz="2000" b="1" dirty="0">
                <a:solidFill>
                  <a:srgbClr val="0070C0"/>
                </a:solidFill>
              </a:rPr>
              <a:t>EPPNet</a:t>
            </a:r>
            <a:r>
              <a:rPr lang="en-US" sz="2000" dirty="0"/>
              <a:t>, an </a:t>
            </a:r>
            <a:r>
              <a:rPr lang="en-US" sz="2000" dirty="0">
                <a:solidFill>
                  <a:srgbClr val="00B050"/>
                </a:solidFill>
              </a:rPr>
              <a:t>active</a:t>
            </a:r>
            <a:r>
              <a:rPr lang="en-US" sz="2000" dirty="0"/>
              <a:t> xAI-based method for </a:t>
            </a:r>
            <a:r>
              <a:rPr lang="en-US" sz="2000" dirty="0">
                <a:solidFill>
                  <a:srgbClr val="0070C0"/>
                </a:solidFill>
              </a:rPr>
              <a:t>image classification</a:t>
            </a:r>
            <a:r>
              <a:rPr lang="en-US" sz="2000" dirty="0"/>
              <a:t> that leverages prototypes for enhanced </a:t>
            </a:r>
            <a:r>
              <a:rPr lang="en-US" sz="2000" dirty="0">
                <a:solidFill>
                  <a:srgbClr val="0070C0"/>
                </a:solidFill>
              </a:rPr>
              <a:t>explainability</a:t>
            </a:r>
          </a:p>
          <a:p>
            <a:endParaRPr lang="en-US" sz="2000" dirty="0">
              <a:solidFill>
                <a:srgbClr val="0070C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The EPPNet uses a novel </a:t>
            </a:r>
            <a:r>
              <a:rPr lang="en-US" sz="2000" dirty="0">
                <a:solidFill>
                  <a:srgbClr val="0070C0"/>
                </a:solidFill>
              </a:rPr>
              <a:t>mean cluster loss </a:t>
            </a:r>
            <a:r>
              <a:rPr lang="en-US" sz="2000" dirty="0"/>
              <a:t>that relies on multiple prototypes to distinguish between classes more effectively</a:t>
            </a:r>
          </a:p>
          <a:p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This work also introduced the </a:t>
            </a:r>
            <a:r>
              <a:rPr lang="en-US" sz="2000" dirty="0">
                <a:solidFill>
                  <a:srgbClr val="0070C0"/>
                </a:solidFill>
              </a:rPr>
              <a:t>faithfulness score </a:t>
            </a:r>
            <a:r>
              <a:rPr lang="en-US" sz="2000" dirty="0"/>
              <a:t>to measure, the relevance of prototypes in ensuring explainability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0214705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251200" y="1295400"/>
            <a:ext cx="5445720" cy="29321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680"/>
              </a:lnSpc>
            </a:pPr>
            <a:r>
              <a:rPr lang="en-US" sz="6400">
                <a:solidFill>
                  <a:srgbClr val="000000"/>
                </a:solidFill>
                <a:latin typeface="Canva Sans Bold"/>
              </a:rPr>
              <a:t>Thank you!</a:t>
            </a:r>
            <a:endParaRPr lang="en-US" sz="6400" dirty="0">
              <a:solidFill>
                <a:srgbClr val="000000"/>
              </a:solidFill>
              <a:latin typeface="Canva Sans Bold"/>
            </a:endParaRPr>
          </a:p>
          <a:p>
            <a:pPr algn="ctr">
              <a:lnSpc>
                <a:spcPts val="7680"/>
              </a:lnSpc>
            </a:pPr>
            <a:endParaRPr lang="en-US" sz="6400" dirty="0">
              <a:solidFill>
                <a:srgbClr val="000000"/>
              </a:solidFill>
              <a:latin typeface="Canva Sans Bold"/>
            </a:endParaRPr>
          </a:p>
          <a:p>
            <a:pPr algn="ctr">
              <a:lnSpc>
                <a:spcPts val="7680"/>
              </a:lnSpc>
              <a:spcBef>
                <a:spcPct val="0"/>
              </a:spcBef>
            </a:pPr>
            <a:r>
              <a:rPr lang="en-US" sz="6400" dirty="0">
                <a:solidFill>
                  <a:srgbClr val="000000"/>
                </a:solidFill>
                <a:latin typeface="Canva Sans Bold"/>
              </a:rPr>
              <a:t>Q&amp;A</a:t>
            </a:r>
          </a:p>
        </p:txBody>
      </p:sp>
      <p:pic>
        <p:nvPicPr>
          <p:cNvPr id="6" name="Picture 5" descr="A black and blue logo&#10;&#10;Description automatically generated">
            <a:extLst>
              <a:ext uri="{FF2B5EF4-FFF2-40B4-BE49-F238E27FC236}">
                <a16:creationId xmlns:a16="http://schemas.microsoft.com/office/drawing/2014/main" id="{70DDE54E-04E7-4D1F-901E-0EF52B51B4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4537" y="5207001"/>
            <a:ext cx="3676926" cy="949327"/>
          </a:xfrm>
          <a:prstGeom prst="rect">
            <a:avLst/>
          </a:prstGeom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F6226BC-A42D-12E6-8CAE-93DA7AED8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05731" y="6462366"/>
            <a:ext cx="2743200" cy="365125"/>
          </a:xfrm>
        </p:spPr>
        <p:txBody>
          <a:bodyPr/>
          <a:lstStyle/>
          <a:p>
            <a:fld id="{ABD39697-445C-5345-9B8B-DB9988CAA513}" type="slidenum">
              <a:rPr lang="en-US" smtClean="0"/>
              <a:t>13</a:t>
            </a:fld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10771</TotalTime>
  <Words>508</Words>
  <Application>Microsoft Macintosh PowerPoint</Application>
  <PresentationFormat>Widescreen</PresentationFormat>
  <Paragraphs>152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3" baseType="lpstr">
      <vt:lpstr>Aptos</vt:lpstr>
      <vt:lpstr>Aptos Display</vt:lpstr>
      <vt:lpstr>Arial</vt:lpstr>
      <vt:lpstr>Cambria Math</vt:lpstr>
      <vt:lpstr>Canva Sans Bold</vt:lpstr>
      <vt:lpstr>Georgia</vt:lpstr>
      <vt:lpstr>Helvetica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ATOTE, BHUSHAN (PGR)</dc:creator>
  <cp:lastModifiedBy>ATOTE, BHUSHAN (PGR)</cp:lastModifiedBy>
  <cp:revision>15</cp:revision>
  <dcterms:created xsi:type="dcterms:W3CDTF">2024-09-10T13:01:01Z</dcterms:created>
  <dcterms:modified xsi:type="dcterms:W3CDTF">2026-10-25T18:22:56Z</dcterms:modified>
</cp:coreProperties>
</file>